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Montserrat"/>
      <p:regular r:id="rId20"/>
      <p:bold r:id="rId21"/>
      <p:italic r:id="rId22"/>
      <p:boldItalic r:id="rId23"/>
    </p:embeddedFon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schemas.openxmlformats.org/officeDocument/2006/relationships/font" Target="fonts/RobotoMono-regular.fntdata"/><Relationship Id="rId23"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italic.fntdata"/><Relationship Id="rId25" Type="http://schemas.openxmlformats.org/officeDocument/2006/relationships/font" Target="fonts/RobotoMono-bold.fntdata"/><Relationship Id="rId27"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Welcome. Today I’m presenting RoboGuardian, a reference implementation of a self-healing robotic control loop built in a bimanual dual SO-101 MuJoCo simulation. The current evidence chain exercises the left-arm pick-and-place task.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slide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slide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Open-loop robots plan once and execute blind. If the environment changes mid-execution, the plan becomes fiction. In our baseline, this blindness caused 10 failures in 10 deterministic trials, with the plate ending 0.30 meters from the target.</a:t>
            </a:r>
            <a:endParaRPr/>
          </a:p>
          <a:p>
            <a:pPr indent="0" lvl="0" marL="0" rtl="0" algn="l">
              <a:spcBef>
                <a:spcPts val="0"/>
              </a:spcBef>
              <a:spcAft>
                <a:spcPts val="0"/>
              </a:spcAft>
              <a:buNone/>
            </a:pPr>
            <a:r>
              <a:t/>
            </a:r>
            <a:endParaRPr/>
          </a:p>
          <a:p>
            <a:pPr indent="0" lvl="0" marL="0" rtl="0" algn="l">
              <a:spcBef>
                <a:spcPts val="0"/>
              </a:spcBef>
              <a:spcAft>
                <a:spcPts val="0"/>
              </a:spcAft>
              <a:buNone/>
            </a:pPr>
            <a:r>
              <a:rPr lang="th"/>
              <a:t>Evidence: results/g3_failure.json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slide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slide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RoboGuardian wraps execution in a governance loop. We observe the world, evaluate the drift, re-plan from a fresh observation, and execute the fresh action. The key question is how to keep the stale plan from slipping through during recovery.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slide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slide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This is the core structural guarantee. RoboGuardian retains the stale target for traceability and solver initialization. It may seed the IK optimizer and bias the configuration branch, but goal_pos always comes from fresh_state.observed_pose. solve_arm_ik() creates a fresh MjData internally, so the solve cannot mutate the live simulation. Only fresh_target is passed to _execute_arm and written to data.ctrl.</a:t>
            </a:r>
            <a:endParaRPr/>
          </a:p>
          <a:p>
            <a:pPr indent="0" lvl="0" marL="0" rtl="0" algn="l">
              <a:spcBef>
                <a:spcPts val="0"/>
              </a:spcBef>
              <a:spcAft>
                <a:spcPts val="0"/>
              </a:spcAft>
              <a:buNone/>
            </a:pPr>
            <a:r>
              <a:t/>
            </a:r>
            <a:endParaRPr/>
          </a:p>
          <a:p>
            <a:pPr indent="0" lvl="0" marL="0" rtl="0" algn="l">
              <a:spcBef>
                <a:spcPts val="0"/>
              </a:spcBef>
              <a:spcAft>
                <a:spcPts val="0"/>
              </a:spcAft>
              <a:buNone/>
            </a:pPr>
            <a:r>
              <a:rPr lang="th"/>
              <a:t>Evidence: control/recovery.py; control/ik_solver.py; results/g5_recovery.json; results/g6_reliability.json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slide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slide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We tested three conditions under the same task protocol: Arm A is the undisturbed reference, Arm B is the disturbed open-loop baseline, and Arm C is the disturbed governed loop. Each arm ran 10 trials with seed 42. The disturbance was object_move, plus 0.10 meters in X, triggered before grasp, with noise set to zero. Determinism supports reproducibility; it is not statistical inference.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th"/>
              <a:t>Evidence: results/g6_reliability.json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slide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slide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The head-to-head result is clear. Arm A succeeded 10 out of 10. Arm B failed 10 out of 10 after the world changed. Arm C recovered 10 out of 10, with zero stale actions executed. This supports the resilience claim under the tested scenario.</a:t>
            </a:r>
            <a:endParaRPr/>
          </a:p>
          <a:p>
            <a:pPr indent="0" lvl="0" marL="0" rtl="0" algn="l">
              <a:spcBef>
                <a:spcPts val="0"/>
              </a:spcBef>
              <a:spcAft>
                <a:spcPts val="0"/>
              </a:spcAft>
              <a:buNone/>
            </a:pPr>
            <a:r>
              <a:t/>
            </a:r>
            <a:endParaRPr/>
          </a:p>
          <a:p>
            <a:pPr indent="0" lvl="0" marL="0" rtl="0" algn="l">
              <a:spcBef>
                <a:spcPts val="0"/>
              </a:spcBef>
              <a:spcAft>
                <a:spcPts val="0"/>
              </a:spcAft>
              <a:buNone/>
            </a:pPr>
            <a:r>
              <a:rPr lang="th"/>
              <a:t>Evidence: results/g6_reliability.json; results/g3_failure.json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slide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slide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The vision pipeline replaces privileged ground-truth detection with CPU inference. The model has about 146 thousand parameters, with roughly 0.7 centimeter mean position error and a worst case of 2.4 centimeters. In g7_openvino.json, ONNX Runtime p50 is 0.542 milliseconds and OpenVINO p50 is 1.230 milliseconds. The reported speedup ratio is baseline divided by OpenVINO, or 0.441. That means OpenVINO is about 2.3 times slower on this tiny model. We claim no speedup. Both median values are below 2 milliseconds, while p95 and maximum latency are higher and remain visible in the artifact.</a:t>
            </a:r>
            <a:endParaRPr/>
          </a:p>
          <a:p>
            <a:pPr indent="0" lvl="0" marL="0" rtl="0" algn="l">
              <a:spcBef>
                <a:spcPts val="0"/>
              </a:spcBef>
              <a:spcAft>
                <a:spcPts val="0"/>
              </a:spcAft>
              <a:buNone/>
            </a:pPr>
            <a:r>
              <a:t/>
            </a:r>
            <a:endParaRPr/>
          </a:p>
          <a:p>
            <a:pPr indent="0" lvl="0" marL="0" rtl="0" algn="l">
              <a:spcBef>
                <a:spcPts val="0"/>
              </a:spcBef>
              <a:spcAft>
                <a:spcPts val="0"/>
              </a:spcAft>
              <a:buNone/>
            </a:pPr>
            <a:r>
              <a:rPr lang="th"/>
              <a:t>Evidence: results/g7_openvino.json; results/FINAL_REPORT.md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slide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slide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Every quantitative claim resolves to a JSON artifact or append-only event trace. The reproduction command explicitly pins the G6 model, disturbance trigger, delta, seed, and trial count. Repository main commit 71d22dfaff129e1629307a8a788c5ddc7b5bb2b9 contains the updated recovery runner with provider selection, a 0.05 meter task threshold, XY error scoring, clean PLACE IK, and frozen force limits. The G6 runner defaults to dual_so101_g3.xml and applies the same force limits. Both vision evidence files shown on the slide are present in the repository.</a:t>
            </a:r>
            <a:endParaRPr/>
          </a:p>
          <a:p>
            <a:pPr indent="0" lvl="0" marL="0" rtl="0" algn="l">
              <a:spcBef>
                <a:spcPts val="0"/>
              </a:spcBef>
              <a:spcAft>
                <a:spcPts val="0"/>
              </a:spcAft>
              <a:buNone/>
            </a:pPr>
            <a:r>
              <a:t/>
            </a:r>
            <a:endParaRPr/>
          </a:p>
          <a:p>
            <a:pPr indent="0" lvl="0" marL="0" rtl="0" algn="l">
              <a:spcBef>
                <a:spcPts val="0"/>
              </a:spcBef>
              <a:spcAft>
                <a:spcPts val="0"/>
              </a:spcAft>
              <a:buNone/>
            </a:pPr>
            <a:r>
              <a:rPr lang="th"/>
              <a:t>Evidence: experiments/run_recovery.py; experiments/run_g6_reliability.py; results/g4_detection_vision_t03.json; results/g5_recovery_vision.json; results/g6_reliability.json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slide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slide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We use honest scope accounting. This is controlled simulation evidence, not a formal proof. Grasping uses a kinematic carry model, trials use fixed seeds with noise equal to zero, and only one disturbance type and one target position have been validated. There is no real-hardware deployment or safety certification yet.</a:t>
            </a:r>
            <a:endParaRPr/>
          </a:p>
          <a:p>
            <a:pPr indent="0" lvl="0" marL="0" rtl="0" algn="l">
              <a:spcBef>
                <a:spcPts val="0"/>
              </a:spcBef>
              <a:spcAft>
                <a:spcPts val="0"/>
              </a:spcAft>
              <a:buNone/>
            </a:pPr>
            <a:r>
              <a:t/>
            </a:r>
            <a:endParaRPr/>
          </a:p>
          <a:p>
            <a:pPr indent="0" lvl="0" marL="0" rtl="0" algn="l">
              <a:spcBef>
                <a:spcPts val="0"/>
              </a:spcBef>
              <a:spcAft>
                <a:spcPts val="0"/>
              </a:spcAft>
              <a:buNone/>
            </a:pPr>
            <a:r>
              <a:rPr lang="th"/>
              <a:t>Evidence: results/FINAL_REPORT.md, Scope of Validity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slide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slide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h"/>
              <a:t>RoboGuardian demonstrates that, under this tested scenario, governed execution is more resilient than open-loop execution when the world changes. The result is not a speed claim: it is a recovery and evidence claim. The code is open source—scan the QR code to clone, run, and inspect it. 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h"/>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rootz-synapsa/roboguardia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hyperlink" Target="https://github.com/rootz-synapsa/roboguardian"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53" name="Shape 53"/>
        <p:cNvGrpSpPr/>
        <p:nvPr/>
      </p:nvGrpSpPr>
      <p:grpSpPr>
        <a:xfrm>
          <a:off x="0" y="0"/>
          <a:ext cx="0" cy="0"/>
          <a:chOff x="0" y="0"/>
          <a:chExt cx="0" cy="0"/>
        </a:xfrm>
      </p:grpSpPr>
      <p:sp>
        <p:nvSpPr>
          <p:cNvPr id="54" name="Google Shape;54;p13"/>
          <p:cNvSpPr/>
          <p:nvPr/>
        </p:nvSpPr>
        <p:spPr>
          <a:xfrm>
            <a:off x="0" y="0"/>
            <a:ext cx="152400" cy="5143500"/>
          </a:xfrm>
          <a:prstGeom prst="rect">
            <a:avLst/>
          </a:prstGeom>
          <a:solidFill>
            <a:srgbClr val="36E5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533400" y="355600"/>
            <a:ext cx="4698900" cy="30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36E5FF"/>
                </a:solidFill>
                <a:latin typeface="Roboto"/>
                <a:ea typeface="Roboto"/>
                <a:cs typeface="Roboto"/>
                <a:sym typeface="Roboto"/>
              </a:rPr>
              <a:t>REFERENCE IMPLEMENTATION  •  G1–G7 CLOSED</a:t>
            </a:r>
            <a:endParaRPr b="1" sz="1000">
              <a:solidFill>
                <a:srgbClr val="36E5FF"/>
              </a:solidFill>
              <a:latin typeface="Roboto"/>
              <a:ea typeface="Roboto"/>
              <a:cs typeface="Roboto"/>
              <a:sym typeface="Roboto"/>
            </a:endParaRPr>
          </a:p>
        </p:txBody>
      </p:sp>
      <p:sp>
        <p:nvSpPr>
          <p:cNvPr id="56" name="Google Shape;56;p13"/>
          <p:cNvSpPr txBox="1"/>
          <p:nvPr/>
        </p:nvSpPr>
        <p:spPr>
          <a:xfrm>
            <a:off x="533400" y="1054100"/>
            <a:ext cx="5460900" cy="787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4800">
                <a:solidFill>
                  <a:srgbClr val="F4F7FB"/>
                </a:solidFill>
                <a:latin typeface="Montserrat"/>
                <a:ea typeface="Montserrat"/>
                <a:cs typeface="Montserrat"/>
                <a:sym typeface="Montserrat"/>
              </a:rPr>
              <a:t>RoboGuardian</a:t>
            </a:r>
            <a:endParaRPr b="1" sz="4800">
              <a:solidFill>
                <a:srgbClr val="F4F7FB"/>
              </a:solidFill>
              <a:latin typeface="Montserrat"/>
              <a:ea typeface="Montserrat"/>
              <a:cs typeface="Montserrat"/>
              <a:sym typeface="Montserrat"/>
            </a:endParaRPr>
          </a:p>
        </p:txBody>
      </p:sp>
      <p:sp>
        <p:nvSpPr>
          <p:cNvPr id="57" name="Google Shape;57;p13"/>
          <p:cNvSpPr txBox="1"/>
          <p:nvPr/>
        </p:nvSpPr>
        <p:spPr>
          <a:xfrm>
            <a:off x="533400" y="1981200"/>
            <a:ext cx="5397600" cy="8889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2200">
                <a:solidFill>
                  <a:srgbClr val="F4F7FB"/>
                </a:solidFill>
                <a:latin typeface="Roboto"/>
                <a:ea typeface="Roboto"/>
                <a:cs typeface="Roboto"/>
                <a:sym typeface="Roboto"/>
              </a:rPr>
              <a:t>Governed execution is more resilient than</a:t>
            </a:r>
            <a:endParaRPr b="1" sz="2200">
              <a:solidFill>
                <a:srgbClr val="F4F7FB"/>
              </a:solidFill>
              <a:latin typeface="Roboto"/>
              <a:ea typeface="Roboto"/>
              <a:cs typeface="Roboto"/>
              <a:sym typeface="Roboto"/>
            </a:endParaRPr>
          </a:p>
          <a:p>
            <a:pPr indent="0" lvl="0" marL="0" rtl="0" algn="l">
              <a:lnSpc>
                <a:spcPct val="110000"/>
              </a:lnSpc>
              <a:spcBef>
                <a:spcPts val="0"/>
              </a:spcBef>
              <a:spcAft>
                <a:spcPts val="0"/>
              </a:spcAft>
              <a:buNone/>
            </a:pPr>
            <a:r>
              <a:rPr b="1" lang="th" sz="2200">
                <a:solidFill>
                  <a:srgbClr val="F4F7FB"/>
                </a:solidFill>
                <a:latin typeface="Roboto"/>
                <a:ea typeface="Roboto"/>
                <a:cs typeface="Roboto"/>
                <a:sym typeface="Roboto"/>
              </a:rPr>
              <a:t>open-loop execution when the world changes.</a:t>
            </a:r>
            <a:endParaRPr b="1" sz="2200">
              <a:solidFill>
                <a:srgbClr val="F4F7FB"/>
              </a:solidFill>
              <a:latin typeface="Roboto"/>
              <a:ea typeface="Roboto"/>
              <a:cs typeface="Roboto"/>
              <a:sym typeface="Roboto"/>
            </a:endParaRPr>
          </a:p>
        </p:txBody>
      </p:sp>
      <p:sp>
        <p:nvSpPr>
          <p:cNvPr id="58" name="Google Shape;58;p13"/>
          <p:cNvSpPr txBox="1"/>
          <p:nvPr/>
        </p:nvSpPr>
        <p:spPr>
          <a:xfrm>
            <a:off x="533400" y="3149600"/>
            <a:ext cx="5334000" cy="571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th" sz="1200">
                <a:solidFill>
                  <a:srgbClr val="91A4B7"/>
                </a:solidFill>
                <a:latin typeface="Roboto"/>
                <a:ea typeface="Roboto"/>
                <a:cs typeface="Roboto"/>
                <a:sym typeface="Roboto"/>
              </a:rPr>
              <a:t>Self-healing robotic control loop</a:t>
            </a:r>
            <a:endParaRPr sz="1200">
              <a:solidFill>
                <a:srgbClr val="91A4B7"/>
              </a:solidFill>
              <a:latin typeface="Roboto"/>
              <a:ea typeface="Roboto"/>
              <a:cs typeface="Roboto"/>
              <a:sym typeface="Roboto"/>
            </a:endParaRPr>
          </a:p>
          <a:p>
            <a:pPr indent="0" lvl="0" marL="0" rtl="0" algn="l">
              <a:lnSpc>
                <a:spcPct val="115000"/>
              </a:lnSpc>
              <a:spcBef>
                <a:spcPts val="0"/>
              </a:spcBef>
              <a:spcAft>
                <a:spcPts val="0"/>
              </a:spcAft>
              <a:buNone/>
            </a:pPr>
            <a:r>
              <a:rPr lang="th" sz="1200">
                <a:solidFill>
                  <a:srgbClr val="91A4B7"/>
                </a:solidFill>
                <a:latin typeface="Roboto"/>
                <a:ea typeface="Roboto"/>
                <a:cs typeface="Roboto"/>
                <a:sym typeface="Roboto"/>
              </a:rPr>
              <a:t>MuJoCo  •  bimanual dual SO-101  •  CPU inference</a:t>
            </a:r>
            <a:endParaRPr sz="1200">
              <a:solidFill>
                <a:srgbClr val="91A4B7"/>
              </a:solidFill>
              <a:latin typeface="Roboto"/>
              <a:ea typeface="Roboto"/>
              <a:cs typeface="Roboto"/>
              <a:sym typeface="Roboto"/>
            </a:endParaRPr>
          </a:p>
        </p:txBody>
      </p:sp>
      <p:sp>
        <p:nvSpPr>
          <p:cNvPr id="59" name="Google Shape;59;p13"/>
          <p:cNvSpPr txBox="1"/>
          <p:nvPr/>
        </p:nvSpPr>
        <p:spPr>
          <a:xfrm>
            <a:off x="533400" y="4368800"/>
            <a:ext cx="4572000" cy="279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200" u="sng">
                <a:solidFill>
                  <a:srgbClr val="36E5FF"/>
                </a:solidFill>
                <a:latin typeface="Roboto"/>
                <a:ea typeface="Roboto"/>
                <a:cs typeface="Roboto"/>
                <a:sym typeface="Roboto"/>
                <a:hlinkClick r:id="rId3">
                  <a:extLst>
                    <a:ext uri="{A12FA001-AC4F-418D-AE19-62706E023703}">
                      <ahyp:hlinkClr val="tx"/>
                    </a:ext>
                  </a:extLst>
                </a:hlinkClick>
              </a:rPr>
              <a:t>github.com/rootz-synapsa/roboguardian</a:t>
            </a:r>
            <a:endParaRPr b="1" sz="1200" u="sng">
              <a:solidFill>
                <a:srgbClr val="36E5FF"/>
              </a:solidFill>
              <a:latin typeface="Roboto"/>
              <a:ea typeface="Roboto"/>
              <a:cs typeface="Roboto"/>
              <a:sym typeface="Roboto"/>
            </a:endParaRPr>
          </a:p>
        </p:txBody>
      </p:sp>
      <p:sp>
        <p:nvSpPr>
          <p:cNvPr id="60" name="Google Shape;60;p13"/>
          <p:cNvSpPr/>
          <p:nvPr/>
        </p:nvSpPr>
        <p:spPr>
          <a:xfrm>
            <a:off x="6908800" y="419100"/>
            <a:ext cx="1587600" cy="317400"/>
          </a:xfrm>
          <a:prstGeom prst="roundRect">
            <a:avLst>
              <a:gd fmla="val 16667" name="adj"/>
            </a:avLst>
          </a:prstGeom>
          <a:solidFill>
            <a:srgbClr val="36F09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000">
                <a:solidFill>
                  <a:srgbClr val="02070D"/>
                </a:solidFill>
                <a:latin typeface="Roboto"/>
                <a:ea typeface="Roboto"/>
                <a:cs typeface="Roboto"/>
                <a:sym typeface="Roboto"/>
              </a:rPr>
              <a:t>G1–G7  PASS</a:t>
            </a:r>
            <a:endParaRPr b="1" sz="1000">
              <a:solidFill>
                <a:srgbClr val="02070D"/>
              </a:solidFill>
              <a:latin typeface="Roboto"/>
              <a:ea typeface="Roboto"/>
              <a:cs typeface="Roboto"/>
              <a:sym typeface="Roboto"/>
            </a:endParaRPr>
          </a:p>
        </p:txBody>
      </p:sp>
      <p:sp>
        <p:nvSpPr>
          <p:cNvPr id="61" name="Google Shape;61;p13"/>
          <p:cNvSpPr/>
          <p:nvPr/>
        </p:nvSpPr>
        <p:spPr>
          <a:xfrm>
            <a:off x="6413500" y="1320800"/>
            <a:ext cx="1905000" cy="1905000"/>
          </a:xfrm>
          <a:prstGeom prst="hexagon">
            <a:avLst>
              <a:gd fmla="val 28852" name="adj"/>
              <a:gd fmla="val 115470" name="vf"/>
            </a:avLst>
          </a:prstGeom>
          <a:solidFill>
            <a:srgbClr val="13263A"/>
          </a:solidFill>
          <a:ln cap="flat" cmpd="sng" w="12700">
            <a:solidFill>
              <a:srgbClr val="36E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p:nvPr/>
        </p:nvSpPr>
        <p:spPr>
          <a:xfrm>
            <a:off x="6769100" y="1676400"/>
            <a:ext cx="1193700" cy="1193700"/>
          </a:xfrm>
          <a:prstGeom prst="hexagon">
            <a:avLst>
              <a:gd fmla="val 28852" name="adj"/>
              <a:gd fmla="val 115470" name="vf"/>
            </a:avLst>
          </a:prstGeom>
          <a:solidFill>
            <a:srgbClr val="07111D"/>
          </a:solidFill>
          <a:ln cap="flat" cmpd="sng" w="12700">
            <a:solidFill>
              <a:srgbClr val="36E5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3"/>
          <p:cNvSpPr txBox="1"/>
          <p:nvPr/>
        </p:nvSpPr>
        <p:spPr>
          <a:xfrm>
            <a:off x="6959600" y="2006600"/>
            <a:ext cx="812700" cy="431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2500">
                <a:solidFill>
                  <a:srgbClr val="36E5FF"/>
                </a:solidFill>
                <a:latin typeface="Montserrat"/>
                <a:ea typeface="Montserrat"/>
                <a:cs typeface="Montserrat"/>
                <a:sym typeface="Montserrat"/>
              </a:rPr>
              <a:t>RG</a:t>
            </a:r>
            <a:endParaRPr b="1" sz="2500">
              <a:solidFill>
                <a:srgbClr val="36E5FF"/>
              </a:solidFill>
              <a:latin typeface="Montserrat"/>
              <a:ea typeface="Montserrat"/>
              <a:cs typeface="Montserrat"/>
              <a:sym typeface="Montserrat"/>
            </a:endParaRPr>
          </a:p>
        </p:txBody>
      </p:sp>
      <p:sp>
        <p:nvSpPr>
          <p:cNvPr id="64" name="Google Shape;64;p13"/>
          <p:cNvSpPr/>
          <p:nvPr/>
        </p:nvSpPr>
        <p:spPr>
          <a:xfrm>
            <a:off x="6172200" y="1219200"/>
            <a:ext cx="152400" cy="152400"/>
          </a:xfrm>
          <a:prstGeom prst="ellipse">
            <a:avLst/>
          </a:prstGeom>
          <a:solidFill>
            <a:srgbClr val="36F09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3"/>
          <p:cNvSpPr/>
          <p:nvPr/>
        </p:nvSpPr>
        <p:spPr>
          <a:xfrm>
            <a:off x="8382000" y="2260600"/>
            <a:ext cx="152400" cy="152400"/>
          </a:xfrm>
          <a:prstGeom prst="ellipse">
            <a:avLst/>
          </a:prstGeom>
          <a:solidFill>
            <a:srgbClr val="36E5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3"/>
          <p:cNvSpPr/>
          <p:nvPr/>
        </p:nvSpPr>
        <p:spPr>
          <a:xfrm>
            <a:off x="6248400" y="3352800"/>
            <a:ext cx="152400" cy="152400"/>
          </a:xfrm>
          <a:prstGeom prst="ellipse">
            <a:avLst/>
          </a:prstGeom>
          <a:solidFill>
            <a:srgbClr val="FFCB5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7" name="Google Shape;67;p13"/>
          <p:cNvCxnSpPr/>
          <p:nvPr/>
        </p:nvCxnSpPr>
        <p:spPr>
          <a:xfrm>
            <a:off x="6299200" y="1308100"/>
            <a:ext cx="495300" cy="482700"/>
          </a:xfrm>
          <a:prstGeom prst="straightConnector1">
            <a:avLst/>
          </a:prstGeom>
          <a:noFill/>
          <a:ln cap="flat" cmpd="sng" w="25400">
            <a:solidFill>
              <a:srgbClr val="36F09B"/>
            </a:solidFill>
            <a:prstDash val="solid"/>
            <a:round/>
            <a:headEnd len="med" w="med" type="none"/>
            <a:tailEnd len="med" w="med" type="none"/>
          </a:ln>
        </p:spPr>
      </p:cxnSp>
      <p:cxnSp>
        <p:nvCxnSpPr>
          <p:cNvPr id="68" name="Google Shape;68;p13"/>
          <p:cNvCxnSpPr/>
          <p:nvPr/>
        </p:nvCxnSpPr>
        <p:spPr>
          <a:xfrm>
            <a:off x="7962900" y="2273300"/>
            <a:ext cx="419100" cy="63600"/>
          </a:xfrm>
          <a:prstGeom prst="straightConnector1">
            <a:avLst/>
          </a:prstGeom>
          <a:noFill/>
          <a:ln cap="flat" cmpd="sng" w="25400">
            <a:solidFill>
              <a:srgbClr val="36E5FF"/>
            </a:solidFill>
            <a:prstDash val="solid"/>
            <a:round/>
            <a:headEnd len="med" w="med" type="none"/>
            <a:tailEnd len="med" w="med" type="none"/>
          </a:ln>
        </p:spPr>
      </p:cxnSp>
      <p:cxnSp>
        <p:nvCxnSpPr>
          <p:cNvPr id="69" name="Google Shape;69;p13"/>
          <p:cNvCxnSpPr/>
          <p:nvPr/>
        </p:nvCxnSpPr>
        <p:spPr>
          <a:xfrm>
            <a:off x="6350000" y="2870200"/>
            <a:ext cx="381000" cy="520800"/>
          </a:xfrm>
          <a:prstGeom prst="straightConnector1">
            <a:avLst/>
          </a:prstGeom>
          <a:noFill/>
          <a:ln cap="flat" cmpd="sng" w="25400">
            <a:solidFill>
              <a:srgbClr val="FFCB57"/>
            </a:solidFill>
            <a:prstDash val="solid"/>
            <a:round/>
            <a:headEnd len="med" w="med" type="none"/>
            <a:tailEnd len="med" w="med" type="none"/>
          </a:ln>
        </p:spPr>
      </p:cxnSp>
      <p:sp>
        <p:nvSpPr>
          <p:cNvPr id="70" name="Google Shape;70;p13"/>
          <p:cNvSpPr txBox="1"/>
          <p:nvPr/>
        </p:nvSpPr>
        <p:spPr>
          <a:xfrm>
            <a:off x="6235700" y="3683000"/>
            <a:ext cx="2286000" cy="254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91A4B7"/>
                </a:solidFill>
                <a:latin typeface="Roboto"/>
                <a:ea typeface="Roboto"/>
                <a:cs typeface="Roboto"/>
                <a:sym typeface="Roboto"/>
              </a:rPr>
              <a:t>OBSERVE  /  GOVERN  /  RECOVER</a:t>
            </a:r>
            <a:endParaRPr b="1" sz="900">
              <a:solidFill>
                <a:srgbClr val="91A4B7"/>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74" name="Shape 74"/>
        <p:cNvGrpSpPr/>
        <p:nvPr/>
      </p:nvGrpSpPr>
      <p:grpSpPr>
        <a:xfrm>
          <a:off x="0" y="0"/>
          <a:ext cx="0" cy="0"/>
          <a:chOff x="0" y="0"/>
          <a:chExt cx="0" cy="0"/>
        </a:xfrm>
      </p:grpSpPr>
      <p:sp>
        <p:nvSpPr>
          <p:cNvPr id="75" name="Google Shape;75;p14"/>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PROBLEM</a:t>
            </a:r>
            <a:endParaRPr b="1" sz="900">
              <a:solidFill>
                <a:srgbClr val="36E5FF"/>
              </a:solidFill>
              <a:latin typeface="Roboto"/>
              <a:ea typeface="Roboto"/>
              <a:cs typeface="Roboto"/>
              <a:sym typeface="Roboto"/>
            </a:endParaRPr>
          </a:p>
        </p:txBody>
      </p:sp>
      <p:sp>
        <p:nvSpPr>
          <p:cNvPr id="76" name="Google Shape;76;p14"/>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The world changes. The plan doesn’t.</a:t>
            </a:r>
            <a:endParaRPr b="1" sz="2800">
              <a:solidFill>
                <a:srgbClr val="F4F7FB"/>
              </a:solidFill>
              <a:latin typeface="Montserrat"/>
              <a:ea typeface="Montserrat"/>
              <a:cs typeface="Montserrat"/>
              <a:sym typeface="Montserrat"/>
            </a:endParaRPr>
          </a:p>
        </p:txBody>
      </p:sp>
      <p:sp>
        <p:nvSpPr>
          <p:cNvPr id="77" name="Google Shape;77;p14"/>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02</a:t>
            </a:r>
            <a:endParaRPr b="1" sz="1000">
              <a:solidFill>
                <a:srgbClr val="91A4B7"/>
              </a:solidFill>
              <a:latin typeface="Roboto"/>
              <a:ea typeface="Roboto"/>
              <a:cs typeface="Roboto"/>
              <a:sym typeface="Roboto"/>
            </a:endParaRPr>
          </a:p>
        </p:txBody>
      </p:sp>
      <p:cxnSp>
        <p:nvCxnSpPr>
          <p:cNvPr id="78" name="Google Shape;78;p14"/>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79" name="Google Shape;79;p14"/>
          <p:cNvSpPr txBox="1"/>
          <p:nvPr/>
        </p:nvSpPr>
        <p:spPr>
          <a:xfrm>
            <a:off x="533400" y="1333500"/>
            <a:ext cx="3302100" cy="381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500">
                <a:solidFill>
                  <a:srgbClr val="91A4B7"/>
                </a:solidFill>
                <a:latin typeface="Roboto"/>
                <a:ea typeface="Roboto"/>
                <a:cs typeface="Roboto"/>
                <a:sym typeface="Roboto"/>
              </a:rPr>
              <a:t>PLAN ONCE</a:t>
            </a:r>
            <a:endParaRPr b="1" sz="1500">
              <a:solidFill>
                <a:srgbClr val="91A4B7"/>
              </a:solidFill>
              <a:latin typeface="Roboto"/>
              <a:ea typeface="Roboto"/>
              <a:cs typeface="Roboto"/>
              <a:sym typeface="Roboto"/>
            </a:endParaRPr>
          </a:p>
        </p:txBody>
      </p:sp>
      <p:sp>
        <p:nvSpPr>
          <p:cNvPr id="80" name="Google Shape;80;p14"/>
          <p:cNvSpPr txBox="1"/>
          <p:nvPr/>
        </p:nvSpPr>
        <p:spPr>
          <a:xfrm>
            <a:off x="533400" y="1739900"/>
            <a:ext cx="3936900" cy="609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3100">
                <a:solidFill>
                  <a:srgbClr val="FF5D6C"/>
                </a:solidFill>
                <a:latin typeface="Montserrat"/>
                <a:ea typeface="Montserrat"/>
                <a:cs typeface="Montserrat"/>
                <a:sym typeface="Montserrat"/>
              </a:rPr>
              <a:t>EXECUTE BLIND</a:t>
            </a:r>
            <a:endParaRPr b="1" sz="3100">
              <a:solidFill>
                <a:srgbClr val="FF5D6C"/>
              </a:solidFill>
              <a:latin typeface="Montserrat"/>
              <a:ea typeface="Montserrat"/>
              <a:cs typeface="Montserrat"/>
              <a:sym typeface="Montserrat"/>
            </a:endParaRPr>
          </a:p>
        </p:txBody>
      </p:sp>
      <p:sp>
        <p:nvSpPr>
          <p:cNvPr id="81" name="Google Shape;81;p14"/>
          <p:cNvSpPr txBox="1"/>
          <p:nvPr/>
        </p:nvSpPr>
        <p:spPr>
          <a:xfrm>
            <a:off x="533400" y="2603500"/>
            <a:ext cx="2412900" cy="863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5400">
                <a:solidFill>
                  <a:srgbClr val="F4F7FB"/>
                </a:solidFill>
                <a:latin typeface="Montserrat"/>
                <a:ea typeface="Montserrat"/>
                <a:cs typeface="Montserrat"/>
                <a:sym typeface="Montserrat"/>
              </a:rPr>
              <a:t>100%</a:t>
            </a:r>
            <a:endParaRPr b="1" sz="5400">
              <a:solidFill>
                <a:srgbClr val="F4F7FB"/>
              </a:solidFill>
              <a:latin typeface="Montserrat"/>
              <a:ea typeface="Montserrat"/>
              <a:cs typeface="Montserrat"/>
              <a:sym typeface="Montserrat"/>
            </a:endParaRPr>
          </a:p>
        </p:txBody>
      </p:sp>
      <p:sp>
        <p:nvSpPr>
          <p:cNvPr id="82" name="Google Shape;82;p14"/>
          <p:cNvSpPr txBox="1"/>
          <p:nvPr/>
        </p:nvSpPr>
        <p:spPr>
          <a:xfrm>
            <a:off x="635000" y="3467100"/>
            <a:ext cx="3302100" cy="6096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a:solidFill>
                  <a:srgbClr val="FF5D6C"/>
                </a:solidFill>
                <a:latin typeface="Roboto"/>
                <a:ea typeface="Roboto"/>
                <a:cs typeface="Roboto"/>
                <a:sym typeface="Roboto"/>
              </a:rPr>
              <a:t>failure under disturbance</a:t>
            </a:r>
            <a:endParaRPr b="1">
              <a:solidFill>
                <a:srgbClr val="FF5D6C"/>
              </a:solidFill>
              <a:latin typeface="Roboto"/>
              <a:ea typeface="Roboto"/>
              <a:cs typeface="Roboto"/>
              <a:sym typeface="Roboto"/>
            </a:endParaRPr>
          </a:p>
          <a:p>
            <a:pPr indent="0" lvl="0" marL="0" rtl="0" algn="l">
              <a:lnSpc>
                <a:spcPct val="110000"/>
              </a:lnSpc>
              <a:spcBef>
                <a:spcPts val="0"/>
              </a:spcBef>
              <a:spcAft>
                <a:spcPts val="0"/>
              </a:spcAft>
              <a:buNone/>
            </a:pPr>
            <a:r>
              <a:rPr b="1" lang="th">
                <a:solidFill>
                  <a:srgbClr val="FF5D6C"/>
                </a:solidFill>
                <a:latin typeface="Roboto"/>
                <a:ea typeface="Roboto"/>
                <a:cs typeface="Roboto"/>
                <a:sym typeface="Roboto"/>
              </a:rPr>
              <a:t>10 / 10 deterministic trials</a:t>
            </a:r>
            <a:endParaRPr b="1">
              <a:solidFill>
                <a:srgbClr val="FF5D6C"/>
              </a:solidFill>
              <a:latin typeface="Roboto"/>
              <a:ea typeface="Roboto"/>
              <a:cs typeface="Roboto"/>
              <a:sym typeface="Roboto"/>
            </a:endParaRPr>
          </a:p>
        </p:txBody>
      </p:sp>
      <p:sp>
        <p:nvSpPr>
          <p:cNvPr id="83" name="Google Shape;83;p14"/>
          <p:cNvSpPr/>
          <p:nvPr/>
        </p:nvSpPr>
        <p:spPr>
          <a:xfrm>
            <a:off x="533400" y="4318000"/>
            <a:ext cx="26034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91A4B7"/>
                </a:solidFill>
                <a:latin typeface="Roboto"/>
                <a:ea typeface="Roboto"/>
                <a:cs typeface="Roboto"/>
                <a:sym typeface="Roboto"/>
              </a:rPr>
              <a:t>results/g3_failure.json</a:t>
            </a:r>
            <a:endParaRPr b="1" sz="900">
              <a:solidFill>
                <a:srgbClr val="91A4B7"/>
              </a:solidFill>
              <a:latin typeface="Roboto"/>
              <a:ea typeface="Roboto"/>
              <a:cs typeface="Roboto"/>
              <a:sym typeface="Roboto"/>
            </a:endParaRPr>
          </a:p>
        </p:txBody>
      </p:sp>
      <p:sp>
        <p:nvSpPr>
          <p:cNvPr id="84" name="Google Shape;84;p14"/>
          <p:cNvSpPr/>
          <p:nvPr/>
        </p:nvSpPr>
        <p:spPr>
          <a:xfrm>
            <a:off x="4292600" y="1270000"/>
            <a:ext cx="4419600" cy="31116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4"/>
          <p:cNvSpPr txBox="1"/>
          <p:nvPr/>
        </p:nvSpPr>
        <p:spPr>
          <a:xfrm>
            <a:off x="4546600" y="1422400"/>
            <a:ext cx="228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FF5D6C"/>
                </a:solidFill>
                <a:latin typeface="Roboto"/>
                <a:ea typeface="Roboto"/>
                <a:cs typeface="Roboto"/>
                <a:sym typeface="Roboto"/>
              </a:rPr>
              <a:t>ARM B  /  OPEN LOOP</a:t>
            </a:r>
            <a:endParaRPr b="1" sz="900">
              <a:solidFill>
                <a:srgbClr val="FF5D6C"/>
              </a:solidFill>
              <a:latin typeface="Roboto"/>
              <a:ea typeface="Roboto"/>
              <a:cs typeface="Roboto"/>
              <a:sym typeface="Roboto"/>
            </a:endParaRPr>
          </a:p>
        </p:txBody>
      </p:sp>
      <p:cxnSp>
        <p:nvCxnSpPr>
          <p:cNvPr id="86" name="Google Shape;86;p14"/>
          <p:cNvCxnSpPr/>
          <p:nvPr/>
        </p:nvCxnSpPr>
        <p:spPr>
          <a:xfrm>
            <a:off x="4724400" y="3746500"/>
            <a:ext cx="3429000" cy="0"/>
          </a:xfrm>
          <a:prstGeom prst="straightConnector1">
            <a:avLst/>
          </a:prstGeom>
          <a:noFill/>
          <a:ln cap="flat" cmpd="sng" w="25400">
            <a:solidFill>
              <a:srgbClr val="1D344A"/>
            </a:solidFill>
            <a:prstDash val="solid"/>
            <a:round/>
            <a:headEnd len="med" w="med" type="none"/>
            <a:tailEnd len="med" w="med" type="none"/>
          </a:ln>
        </p:spPr>
      </p:cxnSp>
      <p:sp>
        <p:nvSpPr>
          <p:cNvPr id="87" name="Google Shape;87;p14"/>
          <p:cNvSpPr/>
          <p:nvPr/>
        </p:nvSpPr>
        <p:spPr>
          <a:xfrm>
            <a:off x="4800600" y="2921000"/>
            <a:ext cx="533400" cy="533400"/>
          </a:xfrm>
          <a:prstGeom prst="ellipse">
            <a:avLst/>
          </a:prstGeom>
          <a:solidFill>
            <a:srgbClr val="13263A"/>
          </a:solidFill>
          <a:ln cap="flat" cmpd="sng" w="12700">
            <a:solidFill>
              <a:srgbClr val="91A4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4"/>
          <p:cNvSpPr txBox="1"/>
          <p:nvPr/>
        </p:nvSpPr>
        <p:spPr>
          <a:xfrm>
            <a:off x="4902200" y="3035300"/>
            <a:ext cx="330300" cy="254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200">
                <a:solidFill>
                  <a:srgbClr val="F4F7FB"/>
                </a:solidFill>
                <a:latin typeface="Roboto"/>
                <a:ea typeface="Roboto"/>
                <a:cs typeface="Roboto"/>
                <a:sym typeface="Roboto"/>
              </a:rPr>
              <a:t>B</a:t>
            </a:r>
            <a:endParaRPr b="1" sz="1200">
              <a:solidFill>
                <a:srgbClr val="F4F7FB"/>
              </a:solidFill>
              <a:latin typeface="Roboto"/>
              <a:ea typeface="Roboto"/>
              <a:cs typeface="Roboto"/>
              <a:sym typeface="Roboto"/>
            </a:endParaRPr>
          </a:p>
        </p:txBody>
      </p:sp>
      <p:cxnSp>
        <p:nvCxnSpPr>
          <p:cNvPr id="89" name="Google Shape;89;p14"/>
          <p:cNvCxnSpPr/>
          <p:nvPr/>
        </p:nvCxnSpPr>
        <p:spPr>
          <a:xfrm>
            <a:off x="5257800" y="3162300"/>
            <a:ext cx="812700" cy="0"/>
          </a:xfrm>
          <a:prstGeom prst="straightConnector1">
            <a:avLst/>
          </a:prstGeom>
          <a:noFill/>
          <a:ln cap="flat" cmpd="sng" w="101600">
            <a:solidFill>
              <a:srgbClr val="91A4B7"/>
            </a:solidFill>
            <a:prstDash val="solid"/>
            <a:round/>
            <a:headEnd len="med" w="med" type="none"/>
            <a:tailEnd len="med" w="med" type="none"/>
          </a:ln>
        </p:spPr>
      </p:cxnSp>
      <p:sp>
        <p:nvSpPr>
          <p:cNvPr id="90" name="Google Shape;90;p14"/>
          <p:cNvSpPr/>
          <p:nvPr/>
        </p:nvSpPr>
        <p:spPr>
          <a:xfrm>
            <a:off x="5969000" y="3060700"/>
            <a:ext cx="203100" cy="203100"/>
          </a:xfrm>
          <a:prstGeom prst="ellipse">
            <a:avLst/>
          </a:prstGeom>
          <a:solidFill>
            <a:srgbClr val="91A4B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1" name="Google Shape;91;p14"/>
          <p:cNvCxnSpPr/>
          <p:nvPr/>
        </p:nvCxnSpPr>
        <p:spPr>
          <a:xfrm>
            <a:off x="6121400" y="3162300"/>
            <a:ext cx="711300" cy="0"/>
          </a:xfrm>
          <a:prstGeom prst="straightConnector1">
            <a:avLst/>
          </a:prstGeom>
          <a:noFill/>
          <a:ln cap="flat" cmpd="sng" w="76200">
            <a:solidFill>
              <a:srgbClr val="91A4B7"/>
            </a:solidFill>
            <a:prstDash val="solid"/>
            <a:round/>
            <a:headEnd len="med" w="med" type="none"/>
            <a:tailEnd len="med" w="med" type="none"/>
          </a:ln>
        </p:spPr>
      </p:cxnSp>
      <p:sp>
        <p:nvSpPr>
          <p:cNvPr id="92" name="Google Shape;92;p14"/>
          <p:cNvSpPr/>
          <p:nvPr/>
        </p:nvSpPr>
        <p:spPr>
          <a:xfrm>
            <a:off x="6680200" y="2946400"/>
            <a:ext cx="431700" cy="431700"/>
          </a:xfrm>
          <a:prstGeom prst="ellipse">
            <a:avLst/>
          </a:prstGeom>
          <a:solidFill>
            <a:srgbClr val="FF5D6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4"/>
          <p:cNvSpPr/>
          <p:nvPr/>
        </p:nvSpPr>
        <p:spPr>
          <a:xfrm>
            <a:off x="7886700" y="2768600"/>
            <a:ext cx="711300" cy="711300"/>
          </a:xfrm>
          <a:prstGeom prst="ellipse">
            <a:avLst/>
          </a:prstGeom>
          <a:noFill/>
          <a:ln cap="flat" cmpd="sng" w="12700">
            <a:solidFill>
              <a:srgbClr val="36F0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4"/>
          <p:cNvSpPr txBox="1"/>
          <p:nvPr/>
        </p:nvSpPr>
        <p:spPr>
          <a:xfrm>
            <a:off x="7924800" y="3009900"/>
            <a:ext cx="635100" cy="203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F09B"/>
                </a:solidFill>
                <a:latin typeface="Roboto"/>
                <a:ea typeface="Roboto"/>
                <a:cs typeface="Roboto"/>
                <a:sym typeface="Roboto"/>
              </a:rPr>
              <a:t>TARGET</a:t>
            </a:r>
            <a:endParaRPr b="1" sz="800">
              <a:solidFill>
                <a:srgbClr val="36F09B"/>
              </a:solidFill>
              <a:latin typeface="Roboto"/>
              <a:ea typeface="Roboto"/>
              <a:cs typeface="Roboto"/>
              <a:sym typeface="Roboto"/>
            </a:endParaRPr>
          </a:p>
        </p:txBody>
      </p:sp>
      <p:cxnSp>
        <p:nvCxnSpPr>
          <p:cNvPr id="95" name="Google Shape;95;p14"/>
          <p:cNvCxnSpPr/>
          <p:nvPr/>
        </p:nvCxnSpPr>
        <p:spPr>
          <a:xfrm>
            <a:off x="6921500" y="2413000"/>
            <a:ext cx="1117500" cy="0"/>
          </a:xfrm>
          <a:prstGeom prst="straightConnector1">
            <a:avLst/>
          </a:prstGeom>
          <a:noFill/>
          <a:ln cap="flat" cmpd="sng" w="25400">
            <a:solidFill>
              <a:srgbClr val="FF5D6C"/>
            </a:solidFill>
            <a:prstDash val="solid"/>
            <a:round/>
            <a:headEnd len="med" w="med" type="none"/>
            <a:tailEnd len="med" w="med" type="stealth"/>
          </a:ln>
        </p:spPr>
      </p:cxnSp>
      <p:sp>
        <p:nvSpPr>
          <p:cNvPr id="96" name="Google Shape;96;p14"/>
          <p:cNvSpPr txBox="1"/>
          <p:nvPr/>
        </p:nvSpPr>
        <p:spPr>
          <a:xfrm>
            <a:off x="6908800" y="2120900"/>
            <a:ext cx="1333500" cy="228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000">
                <a:solidFill>
                  <a:srgbClr val="FF5D6C"/>
                </a:solidFill>
                <a:latin typeface="Roboto"/>
                <a:ea typeface="Roboto"/>
                <a:cs typeface="Roboto"/>
                <a:sym typeface="Roboto"/>
              </a:rPr>
              <a:t>+0.10 m X drift</a:t>
            </a:r>
            <a:endParaRPr b="1" sz="1000">
              <a:solidFill>
                <a:srgbClr val="FF5D6C"/>
              </a:solidFill>
              <a:latin typeface="Roboto"/>
              <a:ea typeface="Roboto"/>
              <a:cs typeface="Roboto"/>
              <a:sym typeface="Roboto"/>
            </a:endParaRPr>
          </a:p>
        </p:txBody>
      </p:sp>
      <p:cxnSp>
        <p:nvCxnSpPr>
          <p:cNvPr id="97" name="Google Shape;97;p14"/>
          <p:cNvCxnSpPr/>
          <p:nvPr/>
        </p:nvCxnSpPr>
        <p:spPr>
          <a:xfrm>
            <a:off x="7023100" y="3162300"/>
            <a:ext cx="863700" cy="0"/>
          </a:xfrm>
          <a:prstGeom prst="straightConnector1">
            <a:avLst/>
          </a:prstGeom>
          <a:noFill/>
          <a:ln cap="flat" cmpd="sng" w="38100">
            <a:solidFill>
              <a:srgbClr val="FF5D6C"/>
            </a:solidFill>
            <a:prstDash val="solid"/>
            <a:round/>
            <a:headEnd len="med" w="med" type="none"/>
            <a:tailEnd len="med" w="med" type="stealth"/>
          </a:ln>
        </p:spPr>
      </p:cxnSp>
      <p:sp>
        <p:nvSpPr>
          <p:cNvPr id="98" name="Google Shape;98;p14"/>
          <p:cNvSpPr txBox="1"/>
          <p:nvPr/>
        </p:nvSpPr>
        <p:spPr>
          <a:xfrm>
            <a:off x="6299200" y="3810000"/>
            <a:ext cx="2031900" cy="406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100">
                <a:solidFill>
                  <a:srgbClr val="F4F7FB"/>
                </a:solidFill>
                <a:latin typeface="Roboto"/>
                <a:ea typeface="Roboto"/>
                <a:cs typeface="Roboto"/>
                <a:sym typeface="Roboto"/>
              </a:rPr>
              <a:t>END STATE</a:t>
            </a:r>
            <a:endParaRPr b="1" sz="1100">
              <a:solidFill>
                <a:srgbClr val="F4F7FB"/>
              </a:solidFill>
              <a:latin typeface="Roboto"/>
              <a:ea typeface="Roboto"/>
              <a:cs typeface="Roboto"/>
              <a:sym typeface="Roboto"/>
            </a:endParaRPr>
          </a:p>
          <a:p>
            <a:pPr indent="0" lvl="0" marL="0" rtl="0" algn="ctr">
              <a:lnSpc>
                <a:spcPct val="100000"/>
              </a:lnSpc>
              <a:spcBef>
                <a:spcPts val="0"/>
              </a:spcBef>
              <a:spcAft>
                <a:spcPts val="0"/>
              </a:spcAft>
              <a:buNone/>
            </a:pPr>
            <a:r>
              <a:rPr b="1" lang="th" sz="1100">
                <a:solidFill>
                  <a:srgbClr val="F4F7FB"/>
                </a:solidFill>
                <a:latin typeface="Roboto"/>
                <a:ea typeface="Roboto"/>
                <a:cs typeface="Roboto"/>
                <a:sym typeface="Roboto"/>
              </a:rPr>
              <a:t>0.30 m OFF TARGET</a:t>
            </a:r>
            <a:endParaRPr b="1" sz="1100">
              <a:solidFill>
                <a:srgbClr val="F4F7FB"/>
              </a:solidFill>
              <a:latin typeface="Roboto"/>
              <a:ea typeface="Roboto"/>
              <a:cs typeface="Roboto"/>
              <a:sym typeface="Roboto"/>
            </a:endParaRPr>
          </a:p>
        </p:txBody>
      </p:sp>
      <p:sp>
        <p:nvSpPr>
          <p:cNvPr id="99" name="Google Shape;99;p14"/>
          <p:cNvSpPr txBox="1"/>
          <p:nvPr/>
        </p:nvSpPr>
        <p:spPr>
          <a:xfrm>
            <a:off x="4292600" y="4521200"/>
            <a:ext cx="4419600" cy="304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a:solidFill>
                  <a:srgbClr val="F4F7FB"/>
                </a:solidFill>
                <a:latin typeface="Roboto"/>
                <a:ea typeface="Roboto"/>
                <a:cs typeface="Roboto"/>
                <a:sym typeface="Roboto"/>
              </a:rPr>
              <a:t>When observation stops, the plan becomes fiction.</a:t>
            </a:r>
            <a:endParaRPr b="1">
              <a:solidFill>
                <a:srgbClr val="F4F7FB"/>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103" name="Shape 103"/>
        <p:cNvGrpSpPr/>
        <p:nvPr/>
      </p:nvGrpSpPr>
      <p:grpSpPr>
        <a:xfrm>
          <a:off x="0" y="0"/>
          <a:ext cx="0" cy="0"/>
          <a:chOff x="0" y="0"/>
          <a:chExt cx="0" cy="0"/>
        </a:xfrm>
      </p:grpSpPr>
      <p:sp>
        <p:nvSpPr>
          <p:cNvPr id="104" name="Google Shape;104;p15"/>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APPROACH</a:t>
            </a:r>
            <a:endParaRPr b="1" sz="900">
              <a:solidFill>
                <a:srgbClr val="36E5FF"/>
              </a:solidFill>
              <a:latin typeface="Roboto"/>
              <a:ea typeface="Roboto"/>
              <a:cs typeface="Roboto"/>
              <a:sym typeface="Roboto"/>
            </a:endParaRPr>
          </a:p>
        </p:txBody>
      </p:sp>
      <p:sp>
        <p:nvSpPr>
          <p:cNvPr id="105" name="Google Shape;105;p15"/>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Wrap execution in a governance loop</a:t>
            </a:r>
            <a:endParaRPr b="1" sz="2800">
              <a:solidFill>
                <a:srgbClr val="F4F7FB"/>
              </a:solidFill>
              <a:latin typeface="Montserrat"/>
              <a:ea typeface="Montserrat"/>
              <a:cs typeface="Montserrat"/>
              <a:sym typeface="Montserrat"/>
            </a:endParaRPr>
          </a:p>
        </p:txBody>
      </p:sp>
      <p:sp>
        <p:nvSpPr>
          <p:cNvPr id="106" name="Google Shape;106;p15"/>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03</a:t>
            </a:r>
            <a:endParaRPr b="1" sz="1000">
              <a:solidFill>
                <a:srgbClr val="91A4B7"/>
              </a:solidFill>
              <a:latin typeface="Roboto"/>
              <a:ea typeface="Roboto"/>
              <a:cs typeface="Roboto"/>
              <a:sym typeface="Roboto"/>
            </a:endParaRPr>
          </a:p>
        </p:txBody>
      </p:sp>
      <p:cxnSp>
        <p:nvCxnSpPr>
          <p:cNvPr id="107" name="Google Shape;107;p15"/>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108" name="Google Shape;108;p15"/>
          <p:cNvSpPr/>
          <p:nvPr/>
        </p:nvSpPr>
        <p:spPr>
          <a:xfrm>
            <a:off x="431800" y="1524000"/>
            <a:ext cx="1879500" cy="16509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5"/>
          <p:cNvSpPr txBox="1"/>
          <p:nvPr/>
        </p:nvSpPr>
        <p:spPr>
          <a:xfrm>
            <a:off x="609600" y="1701800"/>
            <a:ext cx="3555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36E5FF"/>
                </a:solidFill>
                <a:latin typeface="Roboto"/>
                <a:ea typeface="Roboto"/>
                <a:cs typeface="Roboto"/>
                <a:sym typeface="Roboto"/>
              </a:rPr>
              <a:t>01</a:t>
            </a:r>
            <a:endParaRPr b="1" sz="1000">
              <a:solidFill>
                <a:srgbClr val="36E5FF"/>
              </a:solidFill>
              <a:latin typeface="Roboto"/>
              <a:ea typeface="Roboto"/>
              <a:cs typeface="Roboto"/>
              <a:sym typeface="Roboto"/>
            </a:endParaRPr>
          </a:p>
        </p:txBody>
      </p:sp>
      <p:sp>
        <p:nvSpPr>
          <p:cNvPr id="110" name="Google Shape;110;p15"/>
          <p:cNvSpPr txBox="1"/>
          <p:nvPr/>
        </p:nvSpPr>
        <p:spPr>
          <a:xfrm>
            <a:off x="609600" y="2095500"/>
            <a:ext cx="1524000" cy="317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700">
                <a:solidFill>
                  <a:srgbClr val="F4F7FB"/>
                </a:solidFill>
                <a:latin typeface="Montserrat"/>
                <a:ea typeface="Montserrat"/>
                <a:cs typeface="Montserrat"/>
                <a:sym typeface="Montserrat"/>
              </a:rPr>
              <a:t>OBSERVE</a:t>
            </a:r>
            <a:endParaRPr b="1" sz="1700">
              <a:solidFill>
                <a:srgbClr val="F4F7FB"/>
              </a:solidFill>
              <a:latin typeface="Montserrat"/>
              <a:ea typeface="Montserrat"/>
              <a:cs typeface="Montserrat"/>
              <a:sym typeface="Montserrat"/>
            </a:endParaRPr>
          </a:p>
        </p:txBody>
      </p:sp>
      <p:sp>
        <p:nvSpPr>
          <p:cNvPr id="111" name="Google Shape;111;p15"/>
          <p:cNvSpPr txBox="1"/>
          <p:nvPr/>
        </p:nvSpPr>
        <p:spPr>
          <a:xfrm>
            <a:off x="609600" y="2565400"/>
            <a:ext cx="1524000" cy="4446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Read the world</a:t>
            </a:r>
            <a:endParaRPr sz="1100">
              <a:solidFill>
                <a:srgbClr val="91A4B7"/>
              </a:solidFill>
              <a:latin typeface="Roboto"/>
              <a:ea typeface="Roboto"/>
              <a:cs typeface="Roboto"/>
              <a:sym typeface="Roboto"/>
            </a:endParaRPr>
          </a:p>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as it is now</a:t>
            </a:r>
            <a:endParaRPr sz="1100">
              <a:solidFill>
                <a:srgbClr val="91A4B7"/>
              </a:solidFill>
              <a:latin typeface="Roboto"/>
              <a:ea typeface="Roboto"/>
              <a:cs typeface="Roboto"/>
              <a:sym typeface="Roboto"/>
            </a:endParaRPr>
          </a:p>
        </p:txBody>
      </p:sp>
      <p:cxnSp>
        <p:nvCxnSpPr>
          <p:cNvPr id="112" name="Google Shape;112;p15"/>
          <p:cNvCxnSpPr/>
          <p:nvPr/>
        </p:nvCxnSpPr>
        <p:spPr>
          <a:xfrm>
            <a:off x="2311400" y="2349500"/>
            <a:ext cx="254100" cy="0"/>
          </a:xfrm>
          <a:prstGeom prst="straightConnector1">
            <a:avLst/>
          </a:prstGeom>
          <a:noFill/>
          <a:ln cap="flat" cmpd="sng" w="25400">
            <a:solidFill>
              <a:srgbClr val="36E5FF"/>
            </a:solidFill>
            <a:prstDash val="solid"/>
            <a:round/>
            <a:headEnd len="med" w="med" type="none"/>
            <a:tailEnd len="med" w="med" type="stealth"/>
          </a:ln>
        </p:spPr>
      </p:cxnSp>
      <p:sp>
        <p:nvSpPr>
          <p:cNvPr id="113" name="Google Shape;113;p15"/>
          <p:cNvSpPr/>
          <p:nvPr/>
        </p:nvSpPr>
        <p:spPr>
          <a:xfrm>
            <a:off x="2565400" y="1524000"/>
            <a:ext cx="1879500" cy="16509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5"/>
          <p:cNvSpPr txBox="1"/>
          <p:nvPr/>
        </p:nvSpPr>
        <p:spPr>
          <a:xfrm>
            <a:off x="2743200" y="1701800"/>
            <a:ext cx="3555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FFCB57"/>
                </a:solidFill>
                <a:latin typeface="Roboto"/>
                <a:ea typeface="Roboto"/>
                <a:cs typeface="Roboto"/>
                <a:sym typeface="Roboto"/>
              </a:rPr>
              <a:t>02</a:t>
            </a:r>
            <a:endParaRPr b="1" sz="1000">
              <a:solidFill>
                <a:srgbClr val="FFCB57"/>
              </a:solidFill>
              <a:latin typeface="Roboto"/>
              <a:ea typeface="Roboto"/>
              <a:cs typeface="Roboto"/>
              <a:sym typeface="Roboto"/>
            </a:endParaRPr>
          </a:p>
        </p:txBody>
      </p:sp>
      <p:sp>
        <p:nvSpPr>
          <p:cNvPr id="115" name="Google Shape;115;p15"/>
          <p:cNvSpPr txBox="1"/>
          <p:nvPr/>
        </p:nvSpPr>
        <p:spPr>
          <a:xfrm>
            <a:off x="2743200" y="2095500"/>
            <a:ext cx="1524000" cy="317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700">
                <a:solidFill>
                  <a:srgbClr val="F4F7FB"/>
                </a:solidFill>
                <a:latin typeface="Montserrat"/>
                <a:ea typeface="Montserrat"/>
                <a:cs typeface="Montserrat"/>
                <a:sym typeface="Montserrat"/>
              </a:rPr>
              <a:t>EVALUATE</a:t>
            </a:r>
            <a:endParaRPr b="1" sz="1700">
              <a:solidFill>
                <a:srgbClr val="F4F7FB"/>
              </a:solidFill>
              <a:latin typeface="Montserrat"/>
              <a:ea typeface="Montserrat"/>
              <a:cs typeface="Montserrat"/>
              <a:sym typeface="Montserrat"/>
            </a:endParaRPr>
          </a:p>
        </p:txBody>
      </p:sp>
      <p:sp>
        <p:nvSpPr>
          <p:cNvPr id="116" name="Google Shape;116;p15"/>
          <p:cNvSpPr txBox="1"/>
          <p:nvPr/>
        </p:nvSpPr>
        <p:spPr>
          <a:xfrm>
            <a:off x="2743200" y="2565400"/>
            <a:ext cx="1524000" cy="4446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Classify drift</a:t>
            </a:r>
            <a:endParaRPr sz="1100">
              <a:solidFill>
                <a:srgbClr val="91A4B7"/>
              </a:solidFill>
              <a:latin typeface="Roboto"/>
              <a:ea typeface="Roboto"/>
              <a:cs typeface="Roboto"/>
              <a:sym typeface="Roboto"/>
            </a:endParaRPr>
          </a:p>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and risk</a:t>
            </a:r>
            <a:endParaRPr sz="1100">
              <a:solidFill>
                <a:srgbClr val="91A4B7"/>
              </a:solidFill>
              <a:latin typeface="Roboto"/>
              <a:ea typeface="Roboto"/>
              <a:cs typeface="Roboto"/>
              <a:sym typeface="Roboto"/>
            </a:endParaRPr>
          </a:p>
        </p:txBody>
      </p:sp>
      <p:cxnSp>
        <p:nvCxnSpPr>
          <p:cNvPr id="117" name="Google Shape;117;p15"/>
          <p:cNvCxnSpPr/>
          <p:nvPr/>
        </p:nvCxnSpPr>
        <p:spPr>
          <a:xfrm>
            <a:off x="4445000" y="2349500"/>
            <a:ext cx="254100" cy="0"/>
          </a:xfrm>
          <a:prstGeom prst="straightConnector1">
            <a:avLst/>
          </a:prstGeom>
          <a:noFill/>
          <a:ln cap="flat" cmpd="sng" w="25400">
            <a:solidFill>
              <a:srgbClr val="FFCB57"/>
            </a:solidFill>
            <a:prstDash val="solid"/>
            <a:round/>
            <a:headEnd len="med" w="med" type="none"/>
            <a:tailEnd len="med" w="med" type="stealth"/>
          </a:ln>
        </p:spPr>
      </p:cxnSp>
      <p:sp>
        <p:nvSpPr>
          <p:cNvPr id="118" name="Google Shape;118;p15"/>
          <p:cNvSpPr/>
          <p:nvPr/>
        </p:nvSpPr>
        <p:spPr>
          <a:xfrm>
            <a:off x="4699000" y="1524000"/>
            <a:ext cx="1879500" cy="16509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5"/>
          <p:cNvSpPr txBox="1"/>
          <p:nvPr/>
        </p:nvSpPr>
        <p:spPr>
          <a:xfrm>
            <a:off x="4876800" y="1701800"/>
            <a:ext cx="3555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4D8DFF"/>
                </a:solidFill>
                <a:latin typeface="Roboto"/>
                <a:ea typeface="Roboto"/>
                <a:cs typeface="Roboto"/>
                <a:sym typeface="Roboto"/>
              </a:rPr>
              <a:t>03</a:t>
            </a:r>
            <a:endParaRPr b="1" sz="1000">
              <a:solidFill>
                <a:srgbClr val="4D8DFF"/>
              </a:solidFill>
              <a:latin typeface="Roboto"/>
              <a:ea typeface="Roboto"/>
              <a:cs typeface="Roboto"/>
              <a:sym typeface="Roboto"/>
            </a:endParaRPr>
          </a:p>
        </p:txBody>
      </p:sp>
      <p:sp>
        <p:nvSpPr>
          <p:cNvPr id="120" name="Google Shape;120;p15"/>
          <p:cNvSpPr txBox="1"/>
          <p:nvPr/>
        </p:nvSpPr>
        <p:spPr>
          <a:xfrm>
            <a:off x="4876800" y="2095500"/>
            <a:ext cx="1524000" cy="317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700">
                <a:solidFill>
                  <a:srgbClr val="F4F7FB"/>
                </a:solidFill>
                <a:latin typeface="Montserrat"/>
                <a:ea typeface="Montserrat"/>
                <a:cs typeface="Montserrat"/>
                <a:sym typeface="Montserrat"/>
              </a:rPr>
              <a:t>RE-PLAN</a:t>
            </a:r>
            <a:endParaRPr b="1" sz="1700">
              <a:solidFill>
                <a:srgbClr val="F4F7FB"/>
              </a:solidFill>
              <a:latin typeface="Montserrat"/>
              <a:ea typeface="Montserrat"/>
              <a:cs typeface="Montserrat"/>
              <a:sym typeface="Montserrat"/>
            </a:endParaRPr>
          </a:p>
        </p:txBody>
      </p:sp>
      <p:sp>
        <p:nvSpPr>
          <p:cNvPr id="121" name="Google Shape;121;p15"/>
          <p:cNvSpPr txBox="1"/>
          <p:nvPr/>
        </p:nvSpPr>
        <p:spPr>
          <a:xfrm>
            <a:off x="4876800" y="2565400"/>
            <a:ext cx="1524000" cy="4446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Solve from</a:t>
            </a:r>
            <a:endParaRPr sz="1100">
              <a:solidFill>
                <a:srgbClr val="91A4B7"/>
              </a:solidFill>
              <a:latin typeface="Roboto"/>
              <a:ea typeface="Roboto"/>
              <a:cs typeface="Roboto"/>
              <a:sym typeface="Roboto"/>
            </a:endParaRPr>
          </a:p>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fresh state</a:t>
            </a:r>
            <a:endParaRPr sz="1100">
              <a:solidFill>
                <a:srgbClr val="91A4B7"/>
              </a:solidFill>
              <a:latin typeface="Roboto"/>
              <a:ea typeface="Roboto"/>
              <a:cs typeface="Roboto"/>
              <a:sym typeface="Roboto"/>
            </a:endParaRPr>
          </a:p>
        </p:txBody>
      </p:sp>
      <p:cxnSp>
        <p:nvCxnSpPr>
          <p:cNvPr id="122" name="Google Shape;122;p15"/>
          <p:cNvCxnSpPr/>
          <p:nvPr/>
        </p:nvCxnSpPr>
        <p:spPr>
          <a:xfrm>
            <a:off x="6578600" y="2349500"/>
            <a:ext cx="254100" cy="0"/>
          </a:xfrm>
          <a:prstGeom prst="straightConnector1">
            <a:avLst/>
          </a:prstGeom>
          <a:noFill/>
          <a:ln cap="flat" cmpd="sng" w="25400">
            <a:solidFill>
              <a:srgbClr val="4D8DFF"/>
            </a:solidFill>
            <a:prstDash val="solid"/>
            <a:round/>
            <a:headEnd len="med" w="med" type="none"/>
            <a:tailEnd len="med" w="med" type="stealth"/>
          </a:ln>
        </p:spPr>
      </p:cxnSp>
      <p:sp>
        <p:nvSpPr>
          <p:cNvPr id="123" name="Google Shape;123;p15"/>
          <p:cNvSpPr/>
          <p:nvPr/>
        </p:nvSpPr>
        <p:spPr>
          <a:xfrm>
            <a:off x="6832600" y="1524000"/>
            <a:ext cx="1879500" cy="16509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5"/>
          <p:cNvSpPr txBox="1"/>
          <p:nvPr/>
        </p:nvSpPr>
        <p:spPr>
          <a:xfrm>
            <a:off x="7010400" y="1701800"/>
            <a:ext cx="3555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36F09B"/>
                </a:solidFill>
                <a:latin typeface="Roboto"/>
                <a:ea typeface="Roboto"/>
                <a:cs typeface="Roboto"/>
                <a:sym typeface="Roboto"/>
              </a:rPr>
              <a:t>04</a:t>
            </a:r>
            <a:endParaRPr b="1" sz="1000">
              <a:solidFill>
                <a:srgbClr val="36F09B"/>
              </a:solidFill>
              <a:latin typeface="Roboto"/>
              <a:ea typeface="Roboto"/>
              <a:cs typeface="Roboto"/>
              <a:sym typeface="Roboto"/>
            </a:endParaRPr>
          </a:p>
        </p:txBody>
      </p:sp>
      <p:sp>
        <p:nvSpPr>
          <p:cNvPr id="125" name="Google Shape;125;p15"/>
          <p:cNvSpPr txBox="1"/>
          <p:nvPr/>
        </p:nvSpPr>
        <p:spPr>
          <a:xfrm>
            <a:off x="7010400" y="2095500"/>
            <a:ext cx="1524000" cy="317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700">
                <a:solidFill>
                  <a:srgbClr val="F4F7FB"/>
                </a:solidFill>
                <a:latin typeface="Montserrat"/>
                <a:ea typeface="Montserrat"/>
                <a:cs typeface="Montserrat"/>
                <a:sym typeface="Montserrat"/>
              </a:rPr>
              <a:t>EXECUTE</a:t>
            </a:r>
            <a:endParaRPr b="1" sz="1700">
              <a:solidFill>
                <a:srgbClr val="F4F7FB"/>
              </a:solidFill>
              <a:latin typeface="Montserrat"/>
              <a:ea typeface="Montserrat"/>
              <a:cs typeface="Montserrat"/>
              <a:sym typeface="Montserrat"/>
            </a:endParaRPr>
          </a:p>
        </p:txBody>
      </p:sp>
      <p:sp>
        <p:nvSpPr>
          <p:cNvPr id="126" name="Google Shape;126;p15"/>
          <p:cNvSpPr txBox="1"/>
          <p:nvPr/>
        </p:nvSpPr>
        <p:spPr>
          <a:xfrm>
            <a:off x="7010400" y="2565400"/>
            <a:ext cx="1524000" cy="4446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Issue only the</a:t>
            </a:r>
            <a:endParaRPr sz="1100">
              <a:solidFill>
                <a:srgbClr val="91A4B7"/>
              </a:solidFill>
              <a:latin typeface="Roboto"/>
              <a:ea typeface="Roboto"/>
              <a:cs typeface="Roboto"/>
              <a:sym typeface="Roboto"/>
            </a:endParaRPr>
          </a:p>
          <a:p>
            <a:pPr indent="0" lvl="0" marL="0" rtl="0" algn="l">
              <a:lnSpc>
                <a:spcPct val="110000"/>
              </a:lnSpc>
              <a:spcBef>
                <a:spcPts val="0"/>
              </a:spcBef>
              <a:spcAft>
                <a:spcPts val="0"/>
              </a:spcAft>
              <a:buNone/>
            </a:pPr>
            <a:r>
              <a:rPr lang="th" sz="1100">
                <a:solidFill>
                  <a:srgbClr val="91A4B7"/>
                </a:solidFill>
                <a:latin typeface="Roboto"/>
                <a:ea typeface="Roboto"/>
                <a:cs typeface="Roboto"/>
                <a:sym typeface="Roboto"/>
              </a:rPr>
              <a:t>fresh action</a:t>
            </a:r>
            <a:endParaRPr sz="1100">
              <a:solidFill>
                <a:srgbClr val="91A4B7"/>
              </a:solidFill>
              <a:latin typeface="Roboto"/>
              <a:ea typeface="Roboto"/>
              <a:cs typeface="Roboto"/>
              <a:sym typeface="Roboto"/>
            </a:endParaRPr>
          </a:p>
        </p:txBody>
      </p:sp>
      <p:cxnSp>
        <p:nvCxnSpPr>
          <p:cNvPr id="127" name="Google Shape;127;p15"/>
          <p:cNvCxnSpPr/>
          <p:nvPr/>
        </p:nvCxnSpPr>
        <p:spPr>
          <a:xfrm>
            <a:off x="7747000" y="3467100"/>
            <a:ext cx="0" cy="571500"/>
          </a:xfrm>
          <a:prstGeom prst="straightConnector1">
            <a:avLst/>
          </a:prstGeom>
          <a:noFill/>
          <a:ln cap="flat" cmpd="sng" w="25400">
            <a:solidFill>
              <a:srgbClr val="36F09B"/>
            </a:solidFill>
            <a:prstDash val="solid"/>
            <a:round/>
            <a:headEnd len="med" w="med" type="none"/>
            <a:tailEnd len="med" w="med" type="stealth"/>
          </a:ln>
        </p:spPr>
      </p:cxnSp>
      <p:cxnSp>
        <p:nvCxnSpPr>
          <p:cNvPr id="128" name="Google Shape;128;p15"/>
          <p:cNvCxnSpPr/>
          <p:nvPr/>
        </p:nvCxnSpPr>
        <p:spPr>
          <a:xfrm>
            <a:off x="1689100" y="4038600"/>
            <a:ext cx="6057900" cy="0"/>
          </a:xfrm>
          <a:prstGeom prst="straightConnector1">
            <a:avLst/>
          </a:prstGeom>
          <a:noFill/>
          <a:ln cap="flat" cmpd="sng" w="25400">
            <a:solidFill>
              <a:srgbClr val="36E5FF"/>
            </a:solidFill>
            <a:prstDash val="solid"/>
            <a:round/>
            <a:headEnd len="med" w="med" type="none"/>
            <a:tailEnd len="med" w="med" type="none"/>
          </a:ln>
        </p:spPr>
      </p:cxnSp>
      <p:cxnSp>
        <p:nvCxnSpPr>
          <p:cNvPr id="129" name="Google Shape;129;p15"/>
          <p:cNvCxnSpPr/>
          <p:nvPr/>
        </p:nvCxnSpPr>
        <p:spPr>
          <a:xfrm>
            <a:off x="1689100" y="3467100"/>
            <a:ext cx="0" cy="571500"/>
          </a:xfrm>
          <a:prstGeom prst="straightConnector1">
            <a:avLst/>
          </a:prstGeom>
          <a:noFill/>
          <a:ln cap="flat" cmpd="sng" w="25400">
            <a:solidFill>
              <a:srgbClr val="36E5FF"/>
            </a:solidFill>
            <a:prstDash val="solid"/>
            <a:round/>
            <a:headEnd len="med" w="med" type="none"/>
            <a:tailEnd len="med" w="med" type="stealth"/>
          </a:ln>
        </p:spPr>
      </p:cxnSp>
      <p:sp>
        <p:nvSpPr>
          <p:cNvPr id="130" name="Google Shape;130;p15"/>
          <p:cNvSpPr txBox="1"/>
          <p:nvPr/>
        </p:nvSpPr>
        <p:spPr>
          <a:xfrm>
            <a:off x="3175000" y="3860800"/>
            <a:ext cx="3111600" cy="279300"/>
          </a:xfrm>
          <a:prstGeom prst="rect">
            <a:avLst/>
          </a:prstGeom>
          <a:solidFill>
            <a:srgbClr val="07111D"/>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000">
                <a:solidFill>
                  <a:srgbClr val="36E5FF"/>
                </a:solidFill>
                <a:latin typeface="Roboto"/>
                <a:ea typeface="Roboto"/>
                <a:cs typeface="Roboto"/>
                <a:sym typeface="Roboto"/>
              </a:rPr>
              <a:t>FRESH STATE FEEDS THE NEXT CYCLE</a:t>
            </a:r>
            <a:endParaRPr b="1" sz="1000">
              <a:solidFill>
                <a:srgbClr val="36E5FF"/>
              </a:solidFill>
              <a:latin typeface="Roboto"/>
              <a:ea typeface="Roboto"/>
              <a:cs typeface="Roboto"/>
              <a:sym typeface="Roboto"/>
            </a:endParaRPr>
          </a:p>
        </p:txBody>
      </p:sp>
      <p:sp>
        <p:nvSpPr>
          <p:cNvPr id="131" name="Google Shape;131;p15"/>
          <p:cNvSpPr/>
          <p:nvPr/>
        </p:nvSpPr>
        <p:spPr>
          <a:xfrm>
            <a:off x="2413000" y="4495800"/>
            <a:ext cx="43179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100">
                <a:solidFill>
                  <a:srgbClr val="F4F7FB"/>
                </a:solidFill>
                <a:latin typeface="Roboto"/>
                <a:ea typeface="Roboto"/>
                <a:cs typeface="Roboto"/>
                <a:sym typeface="Roboto"/>
              </a:rPr>
              <a:t>RULE: world drift invalidates stale intent</a:t>
            </a:r>
            <a:endParaRPr b="1" sz="1100">
              <a:solidFill>
                <a:srgbClr val="F4F7FB"/>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135" name="Shape 135"/>
        <p:cNvGrpSpPr/>
        <p:nvPr/>
      </p:nvGrpSpPr>
      <p:grpSpPr>
        <a:xfrm>
          <a:off x="0" y="0"/>
          <a:ext cx="0" cy="0"/>
          <a:chOff x="0" y="0"/>
          <a:chExt cx="0" cy="0"/>
        </a:xfrm>
      </p:grpSpPr>
      <p:sp>
        <p:nvSpPr>
          <p:cNvPr id="136" name="Google Shape;136;p16"/>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SECTION 18 GUARANTEE</a:t>
            </a:r>
            <a:endParaRPr b="1" sz="900">
              <a:solidFill>
                <a:srgbClr val="36E5FF"/>
              </a:solidFill>
              <a:latin typeface="Roboto"/>
              <a:ea typeface="Roboto"/>
              <a:cs typeface="Roboto"/>
              <a:sym typeface="Roboto"/>
            </a:endParaRPr>
          </a:p>
        </p:txBody>
      </p:sp>
      <p:sp>
        <p:nvSpPr>
          <p:cNvPr id="137" name="Google Shape;137;p16"/>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Stale plans never reach the actuators</a:t>
            </a:r>
            <a:endParaRPr b="1" sz="2800">
              <a:solidFill>
                <a:srgbClr val="F4F7FB"/>
              </a:solidFill>
              <a:latin typeface="Montserrat"/>
              <a:ea typeface="Montserrat"/>
              <a:cs typeface="Montserrat"/>
              <a:sym typeface="Montserrat"/>
            </a:endParaRPr>
          </a:p>
        </p:txBody>
      </p:sp>
      <p:sp>
        <p:nvSpPr>
          <p:cNvPr id="138" name="Google Shape;138;p16"/>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04</a:t>
            </a:r>
            <a:endParaRPr b="1" sz="1000">
              <a:solidFill>
                <a:srgbClr val="91A4B7"/>
              </a:solidFill>
              <a:latin typeface="Roboto"/>
              <a:ea typeface="Roboto"/>
              <a:cs typeface="Roboto"/>
              <a:sym typeface="Roboto"/>
            </a:endParaRPr>
          </a:p>
        </p:txBody>
      </p:sp>
      <p:cxnSp>
        <p:nvCxnSpPr>
          <p:cNvPr id="139" name="Google Shape;139;p16"/>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140" name="Google Shape;140;p16"/>
          <p:cNvSpPr/>
          <p:nvPr/>
        </p:nvSpPr>
        <p:spPr>
          <a:xfrm>
            <a:off x="431800" y="1219200"/>
            <a:ext cx="5410200" cy="3098700"/>
          </a:xfrm>
          <a:prstGeom prst="roundRect">
            <a:avLst>
              <a:gd fmla="val 16667" name="adj"/>
            </a:avLst>
          </a:prstGeom>
          <a:solidFill>
            <a:srgbClr val="02070D"/>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6"/>
          <p:cNvSpPr txBox="1"/>
          <p:nvPr/>
        </p:nvSpPr>
        <p:spPr>
          <a:xfrm>
            <a:off x="660400" y="1422400"/>
            <a:ext cx="4953000" cy="26034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trace = RecoveryTrace(</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    stale_target=dict(stale_target)</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fresh_state = provider.observe(...)</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ik = solve_arm_ik(</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    goal_pos=fresh_state.observed_pose,</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    seed_qpos={...stale_target...}</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trace.fresh_target = ik["joint_solution_rad"]</a:t>
            </a:r>
            <a:endParaRPr sz="11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100">
                <a:solidFill>
                  <a:srgbClr val="F4F7FB"/>
                </a:solidFill>
                <a:latin typeface="Roboto Mono"/>
                <a:ea typeface="Roboto Mono"/>
                <a:cs typeface="Roboto Mono"/>
                <a:sym typeface="Roboto Mono"/>
              </a:rPr>
              <a:t>_execute_arm(trace.fresh_target, ...)</a:t>
            </a:r>
            <a:endParaRPr sz="1100">
              <a:solidFill>
                <a:srgbClr val="F4F7FB"/>
              </a:solidFill>
              <a:latin typeface="Roboto Mono"/>
              <a:ea typeface="Roboto Mono"/>
              <a:cs typeface="Roboto Mono"/>
              <a:sym typeface="Roboto Mono"/>
            </a:endParaRPr>
          </a:p>
        </p:txBody>
      </p:sp>
      <p:sp>
        <p:nvSpPr>
          <p:cNvPr id="142" name="Google Shape;142;p16"/>
          <p:cNvSpPr/>
          <p:nvPr/>
        </p:nvSpPr>
        <p:spPr>
          <a:xfrm>
            <a:off x="6070600" y="1219200"/>
            <a:ext cx="2641500" cy="3098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6"/>
          <p:cNvSpPr/>
          <p:nvPr/>
        </p:nvSpPr>
        <p:spPr>
          <a:xfrm>
            <a:off x="6413500" y="1498600"/>
            <a:ext cx="1955700" cy="317400"/>
          </a:xfrm>
          <a:prstGeom prst="roundRect">
            <a:avLst>
              <a:gd fmla="val 16667" name="adj"/>
            </a:avLst>
          </a:prstGeom>
          <a:solidFill>
            <a:srgbClr val="FF5D6C"/>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000">
                <a:solidFill>
                  <a:srgbClr val="F4F7FB"/>
                </a:solidFill>
                <a:latin typeface="Roboto"/>
                <a:ea typeface="Roboto"/>
                <a:cs typeface="Roboto"/>
                <a:sym typeface="Roboto"/>
              </a:rPr>
              <a:t>STALE TARGET</a:t>
            </a:r>
            <a:endParaRPr b="1" sz="1000">
              <a:solidFill>
                <a:srgbClr val="F4F7FB"/>
              </a:solidFill>
              <a:latin typeface="Roboto"/>
              <a:ea typeface="Roboto"/>
              <a:cs typeface="Roboto"/>
              <a:sym typeface="Roboto"/>
            </a:endParaRPr>
          </a:p>
        </p:txBody>
      </p:sp>
      <p:sp>
        <p:nvSpPr>
          <p:cNvPr id="144" name="Google Shape;144;p16"/>
          <p:cNvSpPr txBox="1"/>
          <p:nvPr/>
        </p:nvSpPr>
        <p:spPr>
          <a:xfrm>
            <a:off x="6413500" y="1917700"/>
            <a:ext cx="1955700" cy="457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50">
                <a:solidFill>
                  <a:srgbClr val="91A4B7"/>
                </a:solidFill>
                <a:latin typeface="Roboto"/>
                <a:ea typeface="Roboto"/>
                <a:cs typeface="Roboto"/>
                <a:sym typeface="Roboto"/>
              </a:rPr>
              <a:t>Retained for traceability +</a:t>
            </a:r>
            <a:endParaRPr b="1" sz="850">
              <a:solidFill>
                <a:srgbClr val="91A4B7"/>
              </a:solidFill>
              <a:latin typeface="Roboto"/>
              <a:ea typeface="Roboto"/>
              <a:cs typeface="Roboto"/>
              <a:sym typeface="Roboto"/>
            </a:endParaRPr>
          </a:p>
          <a:p>
            <a:pPr indent="0" lvl="0" marL="0" rtl="0" algn="ctr">
              <a:lnSpc>
                <a:spcPct val="100000"/>
              </a:lnSpc>
              <a:spcBef>
                <a:spcPts val="0"/>
              </a:spcBef>
              <a:spcAft>
                <a:spcPts val="0"/>
              </a:spcAft>
              <a:buNone/>
            </a:pPr>
            <a:r>
              <a:rPr b="1" lang="th" sz="850">
                <a:solidFill>
                  <a:srgbClr val="91A4B7"/>
                </a:solidFill>
                <a:latin typeface="Roboto"/>
                <a:ea typeface="Roboto"/>
                <a:cs typeface="Roboto"/>
                <a:sym typeface="Roboto"/>
              </a:rPr>
              <a:t>solver initialization only</a:t>
            </a:r>
            <a:endParaRPr b="1" sz="850">
              <a:solidFill>
                <a:srgbClr val="91A4B7"/>
              </a:solidFill>
              <a:latin typeface="Roboto"/>
              <a:ea typeface="Roboto"/>
              <a:cs typeface="Roboto"/>
              <a:sym typeface="Roboto"/>
            </a:endParaRPr>
          </a:p>
        </p:txBody>
      </p:sp>
      <p:sp>
        <p:nvSpPr>
          <p:cNvPr id="145" name="Google Shape;145;p16"/>
          <p:cNvSpPr txBox="1"/>
          <p:nvPr/>
        </p:nvSpPr>
        <p:spPr>
          <a:xfrm>
            <a:off x="7175500" y="2413000"/>
            <a:ext cx="406500" cy="406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2800">
                <a:solidFill>
                  <a:srgbClr val="FF5D6C"/>
                </a:solidFill>
                <a:latin typeface="Roboto"/>
                <a:ea typeface="Roboto"/>
                <a:cs typeface="Roboto"/>
                <a:sym typeface="Roboto"/>
              </a:rPr>
              <a:t>×</a:t>
            </a:r>
            <a:endParaRPr b="1" sz="2800">
              <a:solidFill>
                <a:srgbClr val="FF5D6C"/>
              </a:solidFill>
              <a:latin typeface="Roboto"/>
              <a:ea typeface="Roboto"/>
              <a:cs typeface="Roboto"/>
              <a:sym typeface="Roboto"/>
            </a:endParaRPr>
          </a:p>
        </p:txBody>
      </p:sp>
      <p:sp>
        <p:nvSpPr>
          <p:cNvPr id="146" name="Google Shape;146;p16"/>
          <p:cNvSpPr txBox="1"/>
          <p:nvPr/>
        </p:nvSpPr>
        <p:spPr>
          <a:xfrm>
            <a:off x="6413500" y="2844800"/>
            <a:ext cx="1955700" cy="4827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th" sz="1100">
                <a:solidFill>
                  <a:srgbClr val="FF5D6C"/>
                </a:solidFill>
                <a:latin typeface="Roboto"/>
                <a:ea typeface="Roboto"/>
                <a:cs typeface="Roboto"/>
                <a:sym typeface="Roboto"/>
              </a:rPr>
              <a:t>never written</a:t>
            </a:r>
            <a:endParaRPr b="1" sz="1100">
              <a:solidFill>
                <a:srgbClr val="FF5D6C"/>
              </a:solidFill>
              <a:latin typeface="Roboto"/>
              <a:ea typeface="Roboto"/>
              <a:cs typeface="Roboto"/>
              <a:sym typeface="Roboto"/>
            </a:endParaRPr>
          </a:p>
          <a:p>
            <a:pPr indent="0" lvl="0" marL="0" rtl="0" algn="ctr">
              <a:lnSpc>
                <a:spcPct val="105000"/>
              </a:lnSpc>
              <a:spcBef>
                <a:spcPts val="0"/>
              </a:spcBef>
              <a:spcAft>
                <a:spcPts val="0"/>
              </a:spcAft>
              <a:buNone/>
            </a:pPr>
            <a:r>
              <a:rPr b="1" lang="th" sz="1100">
                <a:solidFill>
                  <a:srgbClr val="FF5D6C"/>
                </a:solidFill>
                <a:latin typeface="Roboto"/>
                <a:ea typeface="Roboto"/>
                <a:cs typeface="Roboto"/>
                <a:sym typeface="Roboto"/>
              </a:rPr>
              <a:t>to data.ctrl</a:t>
            </a:r>
            <a:endParaRPr b="1" sz="1100">
              <a:solidFill>
                <a:srgbClr val="FF5D6C"/>
              </a:solidFill>
              <a:latin typeface="Roboto"/>
              <a:ea typeface="Roboto"/>
              <a:cs typeface="Roboto"/>
              <a:sym typeface="Roboto"/>
            </a:endParaRPr>
          </a:p>
        </p:txBody>
      </p:sp>
      <p:sp>
        <p:nvSpPr>
          <p:cNvPr id="147" name="Google Shape;147;p16"/>
          <p:cNvSpPr/>
          <p:nvPr/>
        </p:nvSpPr>
        <p:spPr>
          <a:xfrm>
            <a:off x="6413500" y="3505200"/>
            <a:ext cx="1955700" cy="317400"/>
          </a:xfrm>
          <a:prstGeom prst="roundRect">
            <a:avLst>
              <a:gd fmla="val 16667" name="adj"/>
            </a:avLst>
          </a:prstGeom>
          <a:solidFill>
            <a:srgbClr val="36F09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000">
                <a:solidFill>
                  <a:srgbClr val="02070D"/>
                </a:solidFill>
                <a:latin typeface="Roboto"/>
                <a:ea typeface="Roboto"/>
                <a:cs typeface="Roboto"/>
                <a:sym typeface="Roboto"/>
              </a:rPr>
              <a:t>FRESH TARGET</a:t>
            </a:r>
            <a:endParaRPr b="1" sz="1000">
              <a:solidFill>
                <a:srgbClr val="02070D"/>
              </a:solidFill>
              <a:latin typeface="Roboto"/>
              <a:ea typeface="Roboto"/>
              <a:cs typeface="Roboto"/>
              <a:sym typeface="Roboto"/>
            </a:endParaRPr>
          </a:p>
        </p:txBody>
      </p:sp>
      <p:sp>
        <p:nvSpPr>
          <p:cNvPr id="148" name="Google Shape;148;p16"/>
          <p:cNvSpPr txBox="1"/>
          <p:nvPr/>
        </p:nvSpPr>
        <p:spPr>
          <a:xfrm>
            <a:off x="6413500" y="3924300"/>
            <a:ext cx="1955700" cy="254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100">
                <a:solidFill>
                  <a:srgbClr val="36F09B"/>
                </a:solidFill>
                <a:latin typeface="Roboto"/>
                <a:ea typeface="Roboto"/>
                <a:cs typeface="Roboto"/>
                <a:sym typeface="Roboto"/>
              </a:rPr>
              <a:t>ACTUATORS</a:t>
            </a:r>
            <a:endParaRPr b="1" sz="1100">
              <a:solidFill>
                <a:srgbClr val="36F09B"/>
              </a:solidFill>
              <a:latin typeface="Roboto"/>
              <a:ea typeface="Roboto"/>
              <a:cs typeface="Roboto"/>
              <a:sym typeface="Roboto"/>
            </a:endParaRPr>
          </a:p>
        </p:txBody>
      </p:sp>
      <p:sp>
        <p:nvSpPr>
          <p:cNvPr id="149" name="Google Shape;149;p16"/>
          <p:cNvSpPr/>
          <p:nvPr/>
        </p:nvSpPr>
        <p:spPr>
          <a:xfrm>
            <a:off x="431800" y="4292600"/>
            <a:ext cx="8280300" cy="355500"/>
          </a:xfrm>
          <a:prstGeom prst="roundRect">
            <a:avLst>
              <a:gd fmla="val 16667" name="adj"/>
            </a:avLst>
          </a:prstGeom>
          <a:solidFill>
            <a:srgbClr val="36E5FF"/>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100">
                <a:solidFill>
                  <a:srgbClr val="02070D"/>
                </a:solidFill>
                <a:latin typeface="Roboto"/>
                <a:ea typeface="Roboto"/>
                <a:cs typeface="Roboto"/>
                <a:sym typeface="Roboto"/>
              </a:rPr>
              <a:t>STRUCTURAL INVARIANT   stale_action_executed = False   •   G5 + G6</a:t>
            </a:r>
            <a:endParaRPr b="1" sz="1100">
              <a:solidFill>
                <a:srgbClr val="02070D"/>
              </a:solidFill>
              <a:latin typeface="Roboto"/>
              <a:ea typeface="Roboto"/>
              <a:cs typeface="Roboto"/>
              <a:sym typeface="Roboto"/>
            </a:endParaRPr>
          </a:p>
        </p:txBody>
      </p:sp>
      <p:sp>
        <p:nvSpPr>
          <p:cNvPr id="150" name="Google Shape;150;p16"/>
          <p:cNvSpPr txBox="1"/>
          <p:nvPr/>
        </p:nvSpPr>
        <p:spPr>
          <a:xfrm>
            <a:off x="431800" y="4686300"/>
            <a:ext cx="82803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th" sz="750">
                <a:solidFill>
                  <a:srgbClr val="91A4B7"/>
                </a:solidFill>
                <a:latin typeface="Roboto"/>
                <a:ea typeface="Roboto"/>
                <a:cs typeface="Roboto"/>
                <a:sym typeface="Roboto"/>
              </a:rPr>
              <a:t>IK seed biases the configuration branch (elbow-up/down) only.</a:t>
            </a:r>
            <a:endParaRPr sz="750">
              <a:solidFill>
                <a:srgbClr val="91A4B7"/>
              </a:solidFill>
              <a:latin typeface="Roboto"/>
              <a:ea typeface="Roboto"/>
              <a:cs typeface="Roboto"/>
              <a:sym typeface="Roboto"/>
            </a:endParaRPr>
          </a:p>
          <a:p>
            <a:pPr indent="0" lvl="0" marL="0" rtl="0" algn="ctr">
              <a:lnSpc>
                <a:spcPct val="100000"/>
              </a:lnSpc>
              <a:spcBef>
                <a:spcPts val="0"/>
              </a:spcBef>
              <a:spcAft>
                <a:spcPts val="0"/>
              </a:spcAft>
              <a:buNone/>
            </a:pPr>
            <a:r>
              <a:rPr lang="th" sz="750">
                <a:solidFill>
                  <a:srgbClr val="91A4B7"/>
                </a:solidFill>
                <a:latin typeface="Roboto"/>
                <a:ea typeface="Roboto"/>
                <a:cs typeface="Roboto"/>
                <a:sym typeface="Roboto"/>
              </a:rPr>
              <a:t>The solve goal always comes from fresh observe(). solve_arm_ik() uses an internal MjData copy, so the live simulation remains untouched until _execute_arm(fresh_target).</a:t>
            </a:r>
            <a:endParaRPr sz="750">
              <a:solidFill>
                <a:srgbClr val="91A4B7"/>
              </a:solidFill>
              <a:latin typeface="Roboto"/>
              <a:ea typeface="Roboto"/>
              <a:cs typeface="Roboto"/>
              <a:sym typeface="Roboto"/>
            </a:endParaRPr>
          </a:p>
        </p:txBody>
      </p:sp>
      <p:cxnSp>
        <p:nvCxnSpPr>
          <p:cNvPr id="151" name="Google Shape;151;p16"/>
          <p:cNvCxnSpPr/>
          <p:nvPr/>
        </p:nvCxnSpPr>
        <p:spPr>
          <a:xfrm>
            <a:off x="7391400" y="3797300"/>
            <a:ext cx="0" cy="126900"/>
          </a:xfrm>
          <a:prstGeom prst="straightConnector1">
            <a:avLst/>
          </a:prstGeom>
          <a:noFill/>
          <a:ln cap="flat" cmpd="sng" w="19050">
            <a:solidFill>
              <a:srgbClr val="36F09B"/>
            </a:solidFill>
            <a:prstDash val="solid"/>
            <a:round/>
            <a:headEnd len="med" w="med"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155" name="Shape 155"/>
        <p:cNvGrpSpPr/>
        <p:nvPr/>
      </p:nvGrpSpPr>
      <p:grpSpPr>
        <a:xfrm>
          <a:off x="0" y="0"/>
          <a:ext cx="0" cy="0"/>
          <a:chOff x="0" y="0"/>
          <a:chExt cx="0" cy="0"/>
        </a:xfrm>
      </p:grpSpPr>
      <p:sp>
        <p:nvSpPr>
          <p:cNvPr id="156" name="Google Shape;156;p17"/>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EXPERIMENT DESIGN</a:t>
            </a:r>
            <a:endParaRPr b="1" sz="900">
              <a:solidFill>
                <a:srgbClr val="36E5FF"/>
              </a:solidFill>
              <a:latin typeface="Roboto"/>
              <a:ea typeface="Roboto"/>
              <a:cs typeface="Roboto"/>
              <a:sym typeface="Roboto"/>
            </a:endParaRPr>
          </a:p>
        </p:txBody>
      </p:sp>
      <p:sp>
        <p:nvSpPr>
          <p:cNvPr id="157" name="Google Shape;157;p17"/>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Apples-to-apples comparison</a:t>
            </a:r>
            <a:endParaRPr b="1" sz="2800">
              <a:solidFill>
                <a:srgbClr val="F4F7FB"/>
              </a:solidFill>
              <a:latin typeface="Montserrat"/>
              <a:ea typeface="Montserrat"/>
              <a:cs typeface="Montserrat"/>
              <a:sym typeface="Montserrat"/>
            </a:endParaRPr>
          </a:p>
        </p:txBody>
      </p:sp>
      <p:sp>
        <p:nvSpPr>
          <p:cNvPr id="158" name="Google Shape;158;p17"/>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05</a:t>
            </a:r>
            <a:endParaRPr b="1" sz="1000">
              <a:solidFill>
                <a:srgbClr val="91A4B7"/>
              </a:solidFill>
              <a:latin typeface="Roboto"/>
              <a:ea typeface="Roboto"/>
              <a:cs typeface="Roboto"/>
              <a:sym typeface="Roboto"/>
            </a:endParaRPr>
          </a:p>
        </p:txBody>
      </p:sp>
      <p:cxnSp>
        <p:nvCxnSpPr>
          <p:cNvPr id="159" name="Google Shape;159;p17"/>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160" name="Google Shape;160;p17"/>
          <p:cNvSpPr/>
          <p:nvPr/>
        </p:nvSpPr>
        <p:spPr>
          <a:xfrm>
            <a:off x="431800" y="1333500"/>
            <a:ext cx="2438400" cy="2336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17"/>
          <p:cNvSpPr/>
          <p:nvPr/>
        </p:nvSpPr>
        <p:spPr>
          <a:xfrm>
            <a:off x="635000" y="1524000"/>
            <a:ext cx="914400" cy="317400"/>
          </a:xfrm>
          <a:prstGeom prst="roundRect">
            <a:avLst>
              <a:gd fmla="val 16667" name="adj"/>
            </a:avLst>
          </a:prstGeom>
          <a:solidFill>
            <a:srgbClr val="91A4B7"/>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02070D"/>
                </a:solidFill>
                <a:latin typeface="Roboto"/>
                <a:ea typeface="Roboto"/>
                <a:cs typeface="Roboto"/>
                <a:sym typeface="Roboto"/>
              </a:rPr>
              <a:t>ARM A</a:t>
            </a:r>
            <a:endParaRPr b="1" sz="900">
              <a:solidFill>
                <a:srgbClr val="02070D"/>
              </a:solidFill>
              <a:latin typeface="Roboto"/>
              <a:ea typeface="Roboto"/>
              <a:cs typeface="Roboto"/>
              <a:sym typeface="Roboto"/>
            </a:endParaRPr>
          </a:p>
        </p:txBody>
      </p:sp>
      <p:sp>
        <p:nvSpPr>
          <p:cNvPr id="162" name="Google Shape;162;p17"/>
          <p:cNvSpPr txBox="1"/>
          <p:nvPr/>
        </p:nvSpPr>
        <p:spPr>
          <a:xfrm>
            <a:off x="635000" y="2057400"/>
            <a:ext cx="2031900" cy="30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600">
                <a:solidFill>
                  <a:srgbClr val="F4F7FB"/>
                </a:solidFill>
                <a:latin typeface="Montserrat"/>
                <a:ea typeface="Montserrat"/>
                <a:cs typeface="Montserrat"/>
                <a:sym typeface="Montserrat"/>
              </a:rPr>
              <a:t>HAPPY PATH</a:t>
            </a:r>
            <a:endParaRPr b="1" sz="1600">
              <a:solidFill>
                <a:srgbClr val="F4F7FB"/>
              </a:solidFill>
              <a:latin typeface="Montserrat"/>
              <a:ea typeface="Montserrat"/>
              <a:cs typeface="Montserrat"/>
              <a:sym typeface="Montserrat"/>
            </a:endParaRPr>
          </a:p>
        </p:txBody>
      </p:sp>
      <p:sp>
        <p:nvSpPr>
          <p:cNvPr id="163" name="Google Shape;163;p17"/>
          <p:cNvSpPr txBox="1"/>
          <p:nvPr/>
        </p:nvSpPr>
        <p:spPr>
          <a:xfrm>
            <a:off x="635000" y="2603500"/>
            <a:ext cx="2031900" cy="736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No disturbance</a:t>
            </a:r>
            <a:endParaRPr sz="1100">
              <a:solidFill>
                <a:srgbClr val="91A4B7"/>
              </a:solidFill>
              <a:latin typeface="Roboto"/>
              <a:ea typeface="Roboto"/>
              <a:cs typeface="Roboto"/>
              <a:sym typeface="Roboto"/>
            </a:endParaRPr>
          </a:p>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Open-loop reference</a:t>
            </a:r>
            <a:endParaRPr sz="1100">
              <a:solidFill>
                <a:srgbClr val="91A4B7"/>
              </a:solidFill>
              <a:latin typeface="Roboto"/>
              <a:ea typeface="Roboto"/>
              <a:cs typeface="Roboto"/>
              <a:sym typeface="Roboto"/>
            </a:endParaRPr>
          </a:p>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10 trials</a:t>
            </a:r>
            <a:endParaRPr sz="1100">
              <a:solidFill>
                <a:srgbClr val="91A4B7"/>
              </a:solidFill>
              <a:latin typeface="Roboto"/>
              <a:ea typeface="Roboto"/>
              <a:cs typeface="Roboto"/>
              <a:sym typeface="Roboto"/>
            </a:endParaRPr>
          </a:p>
        </p:txBody>
      </p:sp>
      <p:sp>
        <p:nvSpPr>
          <p:cNvPr id="164" name="Google Shape;164;p17"/>
          <p:cNvSpPr/>
          <p:nvPr/>
        </p:nvSpPr>
        <p:spPr>
          <a:xfrm>
            <a:off x="3352800" y="1333500"/>
            <a:ext cx="2438400" cy="2336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7"/>
          <p:cNvSpPr/>
          <p:nvPr/>
        </p:nvSpPr>
        <p:spPr>
          <a:xfrm>
            <a:off x="3556000" y="1524000"/>
            <a:ext cx="914400" cy="317400"/>
          </a:xfrm>
          <a:prstGeom prst="roundRect">
            <a:avLst>
              <a:gd fmla="val 16667" name="adj"/>
            </a:avLst>
          </a:prstGeom>
          <a:solidFill>
            <a:srgbClr val="FF5D6C"/>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02070D"/>
                </a:solidFill>
                <a:latin typeface="Roboto"/>
                <a:ea typeface="Roboto"/>
                <a:cs typeface="Roboto"/>
                <a:sym typeface="Roboto"/>
              </a:rPr>
              <a:t>ARM B</a:t>
            </a:r>
            <a:endParaRPr b="1" sz="900">
              <a:solidFill>
                <a:srgbClr val="02070D"/>
              </a:solidFill>
              <a:latin typeface="Roboto"/>
              <a:ea typeface="Roboto"/>
              <a:cs typeface="Roboto"/>
              <a:sym typeface="Roboto"/>
            </a:endParaRPr>
          </a:p>
        </p:txBody>
      </p:sp>
      <p:sp>
        <p:nvSpPr>
          <p:cNvPr id="166" name="Google Shape;166;p17"/>
          <p:cNvSpPr txBox="1"/>
          <p:nvPr/>
        </p:nvSpPr>
        <p:spPr>
          <a:xfrm>
            <a:off x="3556000" y="2057400"/>
            <a:ext cx="2031900" cy="30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600">
                <a:solidFill>
                  <a:srgbClr val="F4F7FB"/>
                </a:solidFill>
                <a:latin typeface="Montserrat"/>
                <a:ea typeface="Montserrat"/>
                <a:cs typeface="Montserrat"/>
                <a:sym typeface="Montserrat"/>
              </a:rPr>
              <a:t>OPEN LOOP</a:t>
            </a:r>
            <a:endParaRPr b="1" sz="1600">
              <a:solidFill>
                <a:srgbClr val="F4F7FB"/>
              </a:solidFill>
              <a:latin typeface="Montserrat"/>
              <a:ea typeface="Montserrat"/>
              <a:cs typeface="Montserrat"/>
              <a:sym typeface="Montserrat"/>
            </a:endParaRPr>
          </a:p>
        </p:txBody>
      </p:sp>
      <p:sp>
        <p:nvSpPr>
          <p:cNvPr id="167" name="Google Shape;167;p17"/>
          <p:cNvSpPr txBox="1"/>
          <p:nvPr/>
        </p:nvSpPr>
        <p:spPr>
          <a:xfrm>
            <a:off x="3556000" y="2603500"/>
            <a:ext cx="2031900" cy="736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Object moved mid-run</a:t>
            </a:r>
            <a:endParaRPr sz="1100">
              <a:solidFill>
                <a:srgbClr val="91A4B7"/>
              </a:solidFill>
              <a:latin typeface="Roboto"/>
              <a:ea typeface="Roboto"/>
              <a:cs typeface="Roboto"/>
              <a:sym typeface="Roboto"/>
            </a:endParaRPr>
          </a:p>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No recovery</a:t>
            </a:r>
            <a:endParaRPr sz="1100">
              <a:solidFill>
                <a:srgbClr val="91A4B7"/>
              </a:solidFill>
              <a:latin typeface="Roboto"/>
              <a:ea typeface="Roboto"/>
              <a:cs typeface="Roboto"/>
              <a:sym typeface="Roboto"/>
            </a:endParaRPr>
          </a:p>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10 trials</a:t>
            </a:r>
            <a:endParaRPr sz="1100">
              <a:solidFill>
                <a:srgbClr val="91A4B7"/>
              </a:solidFill>
              <a:latin typeface="Roboto"/>
              <a:ea typeface="Roboto"/>
              <a:cs typeface="Roboto"/>
              <a:sym typeface="Roboto"/>
            </a:endParaRPr>
          </a:p>
        </p:txBody>
      </p:sp>
      <p:sp>
        <p:nvSpPr>
          <p:cNvPr id="168" name="Google Shape;168;p17"/>
          <p:cNvSpPr/>
          <p:nvPr/>
        </p:nvSpPr>
        <p:spPr>
          <a:xfrm>
            <a:off x="6273800" y="1333500"/>
            <a:ext cx="2438400" cy="2336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7"/>
          <p:cNvSpPr/>
          <p:nvPr/>
        </p:nvSpPr>
        <p:spPr>
          <a:xfrm>
            <a:off x="6477000" y="1524000"/>
            <a:ext cx="914400" cy="317400"/>
          </a:xfrm>
          <a:prstGeom prst="roundRect">
            <a:avLst>
              <a:gd fmla="val 16667" name="adj"/>
            </a:avLst>
          </a:prstGeom>
          <a:solidFill>
            <a:srgbClr val="36F09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02070D"/>
                </a:solidFill>
                <a:latin typeface="Roboto"/>
                <a:ea typeface="Roboto"/>
                <a:cs typeface="Roboto"/>
                <a:sym typeface="Roboto"/>
              </a:rPr>
              <a:t>ARM C</a:t>
            </a:r>
            <a:endParaRPr b="1" sz="900">
              <a:solidFill>
                <a:srgbClr val="02070D"/>
              </a:solidFill>
              <a:latin typeface="Roboto"/>
              <a:ea typeface="Roboto"/>
              <a:cs typeface="Roboto"/>
              <a:sym typeface="Roboto"/>
            </a:endParaRPr>
          </a:p>
        </p:txBody>
      </p:sp>
      <p:sp>
        <p:nvSpPr>
          <p:cNvPr id="170" name="Google Shape;170;p17"/>
          <p:cNvSpPr txBox="1"/>
          <p:nvPr/>
        </p:nvSpPr>
        <p:spPr>
          <a:xfrm>
            <a:off x="6477000" y="2057400"/>
            <a:ext cx="2031900" cy="30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600">
                <a:solidFill>
                  <a:srgbClr val="F4F7FB"/>
                </a:solidFill>
                <a:latin typeface="Montserrat"/>
                <a:ea typeface="Montserrat"/>
                <a:cs typeface="Montserrat"/>
                <a:sym typeface="Montserrat"/>
              </a:rPr>
              <a:t>ROBOGUARDIAN</a:t>
            </a:r>
            <a:endParaRPr b="1" sz="1600">
              <a:solidFill>
                <a:srgbClr val="F4F7FB"/>
              </a:solidFill>
              <a:latin typeface="Montserrat"/>
              <a:ea typeface="Montserrat"/>
              <a:cs typeface="Montserrat"/>
              <a:sym typeface="Montserrat"/>
            </a:endParaRPr>
          </a:p>
        </p:txBody>
      </p:sp>
      <p:sp>
        <p:nvSpPr>
          <p:cNvPr id="171" name="Google Shape;171;p17"/>
          <p:cNvSpPr txBox="1"/>
          <p:nvPr/>
        </p:nvSpPr>
        <p:spPr>
          <a:xfrm>
            <a:off x="6477000" y="2603500"/>
            <a:ext cx="2031900" cy="736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Object moved mid-run</a:t>
            </a:r>
            <a:endParaRPr sz="1100">
              <a:solidFill>
                <a:srgbClr val="91A4B7"/>
              </a:solidFill>
              <a:latin typeface="Roboto"/>
              <a:ea typeface="Roboto"/>
              <a:cs typeface="Roboto"/>
              <a:sym typeface="Roboto"/>
            </a:endParaRPr>
          </a:p>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Governed recovery</a:t>
            </a:r>
            <a:endParaRPr sz="1100">
              <a:solidFill>
                <a:srgbClr val="91A4B7"/>
              </a:solidFill>
              <a:latin typeface="Roboto"/>
              <a:ea typeface="Roboto"/>
              <a:cs typeface="Roboto"/>
              <a:sym typeface="Roboto"/>
            </a:endParaRPr>
          </a:p>
          <a:p>
            <a:pPr indent="0" lvl="0" marL="0" rtl="0" algn="l">
              <a:lnSpc>
                <a:spcPct val="115000"/>
              </a:lnSpc>
              <a:spcBef>
                <a:spcPts val="0"/>
              </a:spcBef>
              <a:spcAft>
                <a:spcPts val="0"/>
              </a:spcAft>
              <a:buNone/>
            </a:pPr>
            <a:r>
              <a:rPr lang="th" sz="1100">
                <a:solidFill>
                  <a:srgbClr val="91A4B7"/>
                </a:solidFill>
                <a:latin typeface="Roboto"/>
                <a:ea typeface="Roboto"/>
                <a:cs typeface="Roboto"/>
                <a:sym typeface="Roboto"/>
              </a:rPr>
              <a:t>10 trials</a:t>
            </a:r>
            <a:endParaRPr sz="1100">
              <a:solidFill>
                <a:srgbClr val="91A4B7"/>
              </a:solidFill>
              <a:latin typeface="Roboto"/>
              <a:ea typeface="Roboto"/>
              <a:cs typeface="Roboto"/>
              <a:sym typeface="Roboto"/>
            </a:endParaRPr>
          </a:p>
        </p:txBody>
      </p:sp>
      <p:sp>
        <p:nvSpPr>
          <p:cNvPr id="172" name="Google Shape;172;p17"/>
          <p:cNvSpPr txBox="1"/>
          <p:nvPr/>
        </p:nvSpPr>
        <p:spPr>
          <a:xfrm>
            <a:off x="431800" y="3924300"/>
            <a:ext cx="1905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COMMON PROTOCOL</a:t>
            </a:r>
            <a:endParaRPr b="1" sz="900">
              <a:solidFill>
                <a:srgbClr val="36E5FF"/>
              </a:solidFill>
              <a:latin typeface="Roboto"/>
              <a:ea typeface="Roboto"/>
              <a:cs typeface="Roboto"/>
              <a:sym typeface="Roboto"/>
            </a:endParaRPr>
          </a:p>
        </p:txBody>
      </p:sp>
      <p:sp>
        <p:nvSpPr>
          <p:cNvPr id="173" name="Google Shape;173;p17"/>
          <p:cNvSpPr/>
          <p:nvPr/>
        </p:nvSpPr>
        <p:spPr>
          <a:xfrm>
            <a:off x="431800" y="4381500"/>
            <a:ext cx="11685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F4F7FB"/>
                </a:solidFill>
                <a:latin typeface="Roboto"/>
                <a:ea typeface="Roboto"/>
                <a:cs typeface="Roboto"/>
                <a:sym typeface="Roboto"/>
              </a:rPr>
              <a:t>SEED 42</a:t>
            </a:r>
            <a:endParaRPr b="1" sz="900">
              <a:solidFill>
                <a:srgbClr val="F4F7FB"/>
              </a:solidFill>
              <a:latin typeface="Roboto"/>
              <a:ea typeface="Roboto"/>
              <a:cs typeface="Roboto"/>
              <a:sym typeface="Roboto"/>
            </a:endParaRPr>
          </a:p>
        </p:txBody>
      </p:sp>
      <p:sp>
        <p:nvSpPr>
          <p:cNvPr id="174" name="Google Shape;174;p17"/>
          <p:cNvSpPr/>
          <p:nvPr/>
        </p:nvSpPr>
        <p:spPr>
          <a:xfrm>
            <a:off x="1727200" y="4381500"/>
            <a:ext cx="13335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F4F7FB"/>
                </a:solidFill>
                <a:latin typeface="Roboto"/>
                <a:ea typeface="Roboto"/>
                <a:cs typeface="Roboto"/>
                <a:sym typeface="Roboto"/>
              </a:rPr>
              <a:t>NOISE = 0</a:t>
            </a:r>
            <a:endParaRPr b="1" sz="900">
              <a:solidFill>
                <a:srgbClr val="F4F7FB"/>
              </a:solidFill>
              <a:latin typeface="Roboto"/>
              <a:ea typeface="Roboto"/>
              <a:cs typeface="Roboto"/>
              <a:sym typeface="Roboto"/>
            </a:endParaRPr>
          </a:p>
        </p:txBody>
      </p:sp>
      <p:sp>
        <p:nvSpPr>
          <p:cNvPr id="175" name="Google Shape;175;p17"/>
          <p:cNvSpPr/>
          <p:nvPr/>
        </p:nvSpPr>
        <p:spPr>
          <a:xfrm>
            <a:off x="3187700" y="4381500"/>
            <a:ext cx="13971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F4F7FB"/>
                </a:solidFill>
                <a:latin typeface="Roboto"/>
                <a:ea typeface="Roboto"/>
                <a:cs typeface="Roboto"/>
                <a:sym typeface="Roboto"/>
              </a:rPr>
              <a:t>+0.10 m X</a:t>
            </a:r>
            <a:endParaRPr b="1" sz="900">
              <a:solidFill>
                <a:srgbClr val="F4F7FB"/>
              </a:solidFill>
              <a:latin typeface="Roboto"/>
              <a:ea typeface="Roboto"/>
              <a:cs typeface="Roboto"/>
              <a:sym typeface="Roboto"/>
            </a:endParaRPr>
          </a:p>
        </p:txBody>
      </p:sp>
      <p:sp>
        <p:nvSpPr>
          <p:cNvPr id="176" name="Google Shape;176;p17"/>
          <p:cNvSpPr/>
          <p:nvPr/>
        </p:nvSpPr>
        <p:spPr>
          <a:xfrm>
            <a:off x="4711700" y="4381500"/>
            <a:ext cx="18414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F4F7FB"/>
                </a:solidFill>
                <a:latin typeface="Roboto"/>
                <a:ea typeface="Roboto"/>
                <a:cs typeface="Roboto"/>
                <a:sym typeface="Roboto"/>
              </a:rPr>
              <a:t>@ BEFORE_GRASP</a:t>
            </a:r>
            <a:endParaRPr b="1" sz="900">
              <a:solidFill>
                <a:srgbClr val="F4F7FB"/>
              </a:solidFill>
              <a:latin typeface="Roboto"/>
              <a:ea typeface="Roboto"/>
              <a:cs typeface="Roboto"/>
              <a:sym typeface="Roboto"/>
            </a:endParaRPr>
          </a:p>
        </p:txBody>
      </p:sp>
      <p:sp>
        <p:nvSpPr>
          <p:cNvPr id="177" name="Google Shape;177;p17"/>
          <p:cNvSpPr/>
          <p:nvPr/>
        </p:nvSpPr>
        <p:spPr>
          <a:xfrm>
            <a:off x="6680200" y="4381500"/>
            <a:ext cx="20319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F4F7FB"/>
                </a:solidFill>
                <a:latin typeface="Roboto"/>
                <a:ea typeface="Roboto"/>
                <a:cs typeface="Roboto"/>
                <a:sym typeface="Roboto"/>
              </a:rPr>
              <a:t>10 TRIALS / ARM</a:t>
            </a:r>
            <a:endParaRPr b="1" sz="900">
              <a:solidFill>
                <a:srgbClr val="F4F7FB"/>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181" name="Shape 181"/>
        <p:cNvGrpSpPr/>
        <p:nvPr/>
      </p:nvGrpSpPr>
      <p:grpSpPr>
        <a:xfrm>
          <a:off x="0" y="0"/>
          <a:ext cx="0" cy="0"/>
          <a:chOff x="0" y="0"/>
          <a:chExt cx="0" cy="0"/>
        </a:xfrm>
      </p:grpSpPr>
      <p:sp>
        <p:nvSpPr>
          <p:cNvPr id="182" name="Google Shape;182;p18"/>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HEAD-TO-HEAD RELIABILITY</a:t>
            </a:r>
            <a:endParaRPr b="1" sz="900">
              <a:solidFill>
                <a:srgbClr val="36E5FF"/>
              </a:solidFill>
              <a:latin typeface="Roboto"/>
              <a:ea typeface="Roboto"/>
              <a:cs typeface="Roboto"/>
              <a:sym typeface="Roboto"/>
            </a:endParaRPr>
          </a:p>
        </p:txBody>
      </p:sp>
      <p:sp>
        <p:nvSpPr>
          <p:cNvPr id="183" name="Google Shape;183;p18"/>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Governance restored 10 / 10 success</a:t>
            </a:r>
            <a:endParaRPr b="1" sz="2800">
              <a:solidFill>
                <a:srgbClr val="F4F7FB"/>
              </a:solidFill>
              <a:latin typeface="Montserrat"/>
              <a:ea typeface="Montserrat"/>
              <a:cs typeface="Montserrat"/>
              <a:sym typeface="Montserrat"/>
            </a:endParaRPr>
          </a:p>
        </p:txBody>
      </p:sp>
      <p:sp>
        <p:nvSpPr>
          <p:cNvPr id="184" name="Google Shape;184;p18"/>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06</a:t>
            </a:r>
            <a:endParaRPr b="1" sz="1000">
              <a:solidFill>
                <a:srgbClr val="91A4B7"/>
              </a:solidFill>
              <a:latin typeface="Roboto"/>
              <a:ea typeface="Roboto"/>
              <a:cs typeface="Roboto"/>
              <a:sym typeface="Roboto"/>
            </a:endParaRPr>
          </a:p>
        </p:txBody>
      </p:sp>
      <p:cxnSp>
        <p:nvCxnSpPr>
          <p:cNvPr id="185" name="Google Shape;185;p18"/>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186" name="Google Shape;186;p18"/>
          <p:cNvSpPr/>
          <p:nvPr/>
        </p:nvSpPr>
        <p:spPr>
          <a:xfrm>
            <a:off x="4584700" y="1143000"/>
            <a:ext cx="41274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36F09B"/>
                </a:solidFill>
                <a:latin typeface="Roboto"/>
                <a:ea typeface="Roboto"/>
                <a:cs typeface="Roboto"/>
                <a:sym typeface="Roboto"/>
              </a:rPr>
              <a:t>CONTROL / NO DISTURBANCE   ARM A   10 / 10</a:t>
            </a:r>
            <a:endParaRPr b="1" sz="900">
              <a:solidFill>
                <a:srgbClr val="36F09B"/>
              </a:solidFill>
              <a:latin typeface="Roboto"/>
              <a:ea typeface="Roboto"/>
              <a:cs typeface="Roboto"/>
              <a:sym typeface="Roboto"/>
            </a:endParaRPr>
          </a:p>
        </p:txBody>
      </p:sp>
      <p:sp>
        <p:nvSpPr>
          <p:cNvPr id="187" name="Google Shape;187;p18"/>
          <p:cNvSpPr/>
          <p:nvPr/>
        </p:nvSpPr>
        <p:spPr>
          <a:xfrm>
            <a:off x="533400" y="1600200"/>
            <a:ext cx="3479700" cy="2476500"/>
          </a:xfrm>
          <a:prstGeom prst="roundRect">
            <a:avLst>
              <a:gd fmla="val 16667" name="adj"/>
            </a:avLst>
          </a:prstGeom>
          <a:solidFill>
            <a:srgbClr val="0E1C2B"/>
          </a:solidFill>
          <a:ln cap="flat" cmpd="sng" w="12700">
            <a:solidFill>
              <a:srgbClr val="FF5D6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8"/>
          <p:cNvSpPr txBox="1"/>
          <p:nvPr/>
        </p:nvSpPr>
        <p:spPr>
          <a:xfrm>
            <a:off x="787400" y="1828800"/>
            <a:ext cx="2793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FF5D6C"/>
                </a:solidFill>
                <a:latin typeface="Roboto"/>
                <a:ea typeface="Roboto"/>
                <a:cs typeface="Roboto"/>
                <a:sym typeface="Roboto"/>
              </a:rPr>
              <a:t>ARM B  •  OPEN LOOP</a:t>
            </a:r>
            <a:endParaRPr b="1" sz="1000">
              <a:solidFill>
                <a:srgbClr val="FF5D6C"/>
              </a:solidFill>
              <a:latin typeface="Roboto"/>
              <a:ea typeface="Roboto"/>
              <a:cs typeface="Roboto"/>
              <a:sym typeface="Roboto"/>
            </a:endParaRPr>
          </a:p>
        </p:txBody>
      </p:sp>
      <p:sp>
        <p:nvSpPr>
          <p:cNvPr id="189" name="Google Shape;189;p18"/>
          <p:cNvSpPr txBox="1"/>
          <p:nvPr/>
        </p:nvSpPr>
        <p:spPr>
          <a:xfrm>
            <a:off x="787400" y="2247900"/>
            <a:ext cx="2793900" cy="82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5100">
                <a:solidFill>
                  <a:srgbClr val="FF5D6C"/>
                </a:solidFill>
                <a:latin typeface="Montserrat"/>
                <a:ea typeface="Montserrat"/>
                <a:cs typeface="Montserrat"/>
                <a:sym typeface="Montserrat"/>
              </a:rPr>
              <a:t>0 / 10</a:t>
            </a:r>
            <a:endParaRPr b="1" sz="5100">
              <a:solidFill>
                <a:srgbClr val="FF5D6C"/>
              </a:solidFill>
              <a:latin typeface="Montserrat"/>
              <a:ea typeface="Montserrat"/>
              <a:cs typeface="Montserrat"/>
              <a:sym typeface="Montserrat"/>
            </a:endParaRPr>
          </a:p>
        </p:txBody>
      </p:sp>
      <p:sp>
        <p:nvSpPr>
          <p:cNvPr id="190" name="Google Shape;190;p18"/>
          <p:cNvSpPr txBox="1"/>
          <p:nvPr/>
        </p:nvSpPr>
        <p:spPr>
          <a:xfrm>
            <a:off x="787400" y="3263900"/>
            <a:ext cx="2793900" cy="533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1100">
                <a:solidFill>
                  <a:srgbClr val="91A4B7"/>
                </a:solidFill>
                <a:latin typeface="Roboto Mono"/>
                <a:ea typeface="Roboto Mono"/>
                <a:cs typeface="Roboto Mono"/>
                <a:sym typeface="Roboto Mono"/>
              </a:rPr>
              <a:t>STALE EXECUTED   10 / 10</a:t>
            </a:r>
            <a:endParaRPr b="1" sz="1100">
              <a:solidFill>
                <a:srgbClr val="91A4B7"/>
              </a:solidFill>
              <a:latin typeface="Roboto Mono"/>
              <a:ea typeface="Roboto Mono"/>
              <a:cs typeface="Roboto Mono"/>
              <a:sym typeface="Roboto Mono"/>
            </a:endParaRPr>
          </a:p>
          <a:p>
            <a:pPr indent="0" lvl="0" marL="0" rtl="0" algn="l">
              <a:lnSpc>
                <a:spcPct val="110000"/>
              </a:lnSpc>
              <a:spcBef>
                <a:spcPts val="0"/>
              </a:spcBef>
              <a:spcAft>
                <a:spcPts val="0"/>
              </a:spcAft>
              <a:buNone/>
            </a:pPr>
            <a:r>
              <a:rPr b="1" lang="th" sz="1100">
                <a:solidFill>
                  <a:srgbClr val="91A4B7"/>
                </a:solidFill>
                <a:latin typeface="Roboto Mono"/>
                <a:ea typeface="Roboto Mono"/>
                <a:cs typeface="Roboto Mono"/>
                <a:sym typeface="Roboto Mono"/>
              </a:rPr>
              <a:t>FINAL MISS       0.30 m</a:t>
            </a:r>
            <a:endParaRPr b="1" sz="1100">
              <a:solidFill>
                <a:srgbClr val="91A4B7"/>
              </a:solidFill>
              <a:latin typeface="Roboto Mono"/>
              <a:ea typeface="Roboto Mono"/>
              <a:cs typeface="Roboto Mono"/>
              <a:sym typeface="Roboto Mono"/>
            </a:endParaRPr>
          </a:p>
        </p:txBody>
      </p:sp>
      <p:sp>
        <p:nvSpPr>
          <p:cNvPr id="191" name="Google Shape;191;p18"/>
          <p:cNvSpPr/>
          <p:nvPr/>
        </p:nvSpPr>
        <p:spPr>
          <a:xfrm>
            <a:off x="5130800" y="1600200"/>
            <a:ext cx="3479700" cy="2476500"/>
          </a:xfrm>
          <a:prstGeom prst="roundRect">
            <a:avLst>
              <a:gd fmla="val 16667" name="adj"/>
            </a:avLst>
          </a:prstGeom>
          <a:solidFill>
            <a:srgbClr val="0E1C2B"/>
          </a:solidFill>
          <a:ln cap="flat" cmpd="sng" w="12700">
            <a:solidFill>
              <a:srgbClr val="36F09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8"/>
          <p:cNvSpPr txBox="1"/>
          <p:nvPr/>
        </p:nvSpPr>
        <p:spPr>
          <a:xfrm>
            <a:off x="5384800" y="1828800"/>
            <a:ext cx="28575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36F09B"/>
                </a:solidFill>
                <a:latin typeface="Roboto"/>
                <a:ea typeface="Roboto"/>
                <a:cs typeface="Roboto"/>
                <a:sym typeface="Roboto"/>
              </a:rPr>
              <a:t>ARM C  •  ROBOGUARDIAN</a:t>
            </a:r>
            <a:endParaRPr b="1" sz="1000">
              <a:solidFill>
                <a:srgbClr val="36F09B"/>
              </a:solidFill>
              <a:latin typeface="Roboto"/>
              <a:ea typeface="Roboto"/>
              <a:cs typeface="Roboto"/>
              <a:sym typeface="Roboto"/>
            </a:endParaRPr>
          </a:p>
        </p:txBody>
      </p:sp>
      <p:sp>
        <p:nvSpPr>
          <p:cNvPr id="193" name="Google Shape;193;p18"/>
          <p:cNvSpPr txBox="1"/>
          <p:nvPr/>
        </p:nvSpPr>
        <p:spPr>
          <a:xfrm>
            <a:off x="5384800" y="2247900"/>
            <a:ext cx="2857500" cy="825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5100">
                <a:solidFill>
                  <a:srgbClr val="36F09B"/>
                </a:solidFill>
                <a:latin typeface="Montserrat"/>
                <a:ea typeface="Montserrat"/>
                <a:cs typeface="Montserrat"/>
                <a:sym typeface="Montserrat"/>
              </a:rPr>
              <a:t>10 / 10</a:t>
            </a:r>
            <a:endParaRPr b="1" sz="5100">
              <a:solidFill>
                <a:srgbClr val="36F09B"/>
              </a:solidFill>
              <a:latin typeface="Montserrat"/>
              <a:ea typeface="Montserrat"/>
              <a:cs typeface="Montserrat"/>
              <a:sym typeface="Montserrat"/>
            </a:endParaRPr>
          </a:p>
        </p:txBody>
      </p:sp>
      <p:sp>
        <p:nvSpPr>
          <p:cNvPr id="194" name="Google Shape;194;p18"/>
          <p:cNvSpPr txBox="1"/>
          <p:nvPr/>
        </p:nvSpPr>
        <p:spPr>
          <a:xfrm>
            <a:off x="5384800" y="3263900"/>
            <a:ext cx="2857500" cy="533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1100">
                <a:solidFill>
                  <a:srgbClr val="91A4B7"/>
                </a:solidFill>
                <a:latin typeface="Roboto Mono"/>
                <a:ea typeface="Roboto Mono"/>
                <a:cs typeface="Roboto Mono"/>
                <a:sym typeface="Roboto Mono"/>
              </a:rPr>
              <a:t>STALE EXECUTED    0 / 10</a:t>
            </a:r>
            <a:endParaRPr b="1" sz="1100">
              <a:solidFill>
                <a:srgbClr val="91A4B7"/>
              </a:solidFill>
              <a:latin typeface="Roboto Mono"/>
              <a:ea typeface="Roboto Mono"/>
              <a:cs typeface="Roboto Mono"/>
              <a:sym typeface="Roboto Mono"/>
            </a:endParaRPr>
          </a:p>
          <a:p>
            <a:pPr indent="0" lvl="0" marL="0" rtl="0" algn="l">
              <a:lnSpc>
                <a:spcPct val="110000"/>
              </a:lnSpc>
              <a:spcBef>
                <a:spcPts val="0"/>
              </a:spcBef>
              <a:spcAft>
                <a:spcPts val="0"/>
              </a:spcAft>
              <a:buNone/>
            </a:pPr>
            <a:r>
              <a:rPr b="1" lang="th" sz="1100">
                <a:solidFill>
                  <a:srgbClr val="91A4B7"/>
                </a:solidFill>
                <a:latin typeface="Roboto Mono"/>
                <a:ea typeface="Roboto Mono"/>
                <a:cs typeface="Roboto Mono"/>
                <a:sym typeface="Roboto Mono"/>
              </a:rPr>
              <a:t>RECOVERY          10 / 10</a:t>
            </a:r>
            <a:endParaRPr b="1" sz="1100">
              <a:solidFill>
                <a:srgbClr val="91A4B7"/>
              </a:solidFill>
              <a:latin typeface="Roboto Mono"/>
              <a:ea typeface="Roboto Mono"/>
              <a:cs typeface="Roboto Mono"/>
              <a:sym typeface="Roboto Mono"/>
            </a:endParaRPr>
          </a:p>
        </p:txBody>
      </p:sp>
      <p:sp>
        <p:nvSpPr>
          <p:cNvPr id="195" name="Google Shape;195;p18"/>
          <p:cNvSpPr/>
          <p:nvPr/>
        </p:nvSpPr>
        <p:spPr>
          <a:xfrm>
            <a:off x="4279900" y="2501900"/>
            <a:ext cx="584100" cy="355500"/>
          </a:xfrm>
          <a:prstGeom prst="ellipse">
            <a:avLst/>
          </a:prstGeom>
          <a:solidFill>
            <a:srgbClr val="13263A"/>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600">
                <a:solidFill>
                  <a:srgbClr val="F4F7FB"/>
                </a:solidFill>
                <a:latin typeface="Roboto"/>
                <a:ea typeface="Roboto"/>
                <a:cs typeface="Roboto"/>
                <a:sym typeface="Roboto"/>
              </a:rPr>
              <a:t>VS</a:t>
            </a:r>
            <a:endParaRPr b="1" sz="1600">
              <a:solidFill>
                <a:srgbClr val="F4F7FB"/>
              </a:solidFill>
              <a:latin typeface="Roboto"/>
              <a:ea typeface="Roboto"/>
              <a:cs typeface="Roboto"/>
              <a:sym typeface="Roboto"/>
            </a:endParaRPr>
          </a:p>
        </p:txBody>
      </p:sp>
      <p:sp>
        <p:nvSpPr>
          <p:cNvPr id="196" name="Google Shape;196;p18"/>
          <p:cNvSpPr/>
          <p:nvPr/>
        </p:nvSpPr>
        <p:spPr>
          <a:xfrm>
            <a:off x="2184400" y="4406900"/>
            <a:ext cx="4775100" cy="330300"/>
          </a:xfrm>
          <a:prstGeom prst="roundRect">
            <a:avLst>
              <a:gd fmla="val 16667" name="adj"/>
            </a:avLst>
          </a:prstGeom>
          <a:solidFill>
            <a:srgbClr val="36F09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200">
                <a:solidFill>
                  <a:srgbClr val="02070D"/>
                </a:solidFill>
                <a:latin typeface="Roboto"/>
                <a:ea typeface="Roboto"/>
                <a:cs typeface="Roboto"/>
                <a:sym typeface="Roboto"/>
              </a:rPr>
              <a:t>ZERO STALE ACTIONS EXECUTED BY ROBOGUARDIAN</a:t>
            </a:r>
            <a:endParaRPr b="1" sz="1200">
              <a:solidFill>
                <a:srgbClr val="02070D"/>
              </a:solidFill>
              <a:latin typeface="Roboto"/>
              <a:ea typeface="Roboto"/>
              <a:cs typeface="Roboto"/>
              <a:sym typeface="Roboto"/>
            </a:endParaRPr>
          </a:p>
        </p:txBody>
      </p:sp>
      <p:sp>
        <p:nvSpPr>
          <p:cNvPr id="197" name="Google Shape;197;p18"/>
          <p:cNvSpPr txBox="1"/>
          <p:nvPr/>
        </p:nvSpPr>
        <p:spPr>
          <a:xfrm>
            <a:off x="3060700" y="4826000"/>
            <a:ext cx="3022500" cy="17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th" sz="800">
                <a:solidFill>
                  <a:srgbClr val="91A4B7"/>
                </a:solidFill>
                <a:latin typeface="Roboto"/>
                <a:ea typeface="Roboto"/>
                <a:cs typeface="Roboto"/>
                <a:sym typeface="Roboto"/>
              </a:rPr>
              <a:t>Evidence: results/g6_reliability.json</a:t>
            </a:r>
            <a:endParaRPr sz="800">
              <a:solidFill>
                <a:srgbClr val="91A4B7"/>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201" name="Shape 201"/>
        <p:cNvGrpSpPr/>
        <p:nvPr/>
      </p:nvGrpSpPr>
      <p:grpSpPr>
        <a:xfrm>
          <a:off x="0" y="0"/>
          <a:ext cx="0" cy="0"/>
          <a:chOff x="0" y="0"/>
          <a:chExt cx="0" cy="0"/>
        </a:xfrm>
      </p:grpSpPr>
      <p:sp>
        <p:nvSpPr>
          <p:cNvPr id="202" name="Google Shape;202;p19"/>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VISION PIPELINE  •  G7</a:t>
            </a:r>
            <a:endParaRPr b="1" sz="900">
              <a:solidFill>
                <a:srgbClr val="36E5FF"/>
              </a:solidFill>
              <a:latin typeface="Roboto"/>
              <a:ea typeface="Roboto"/>
              <a:cs typeface="Roboto"/>
              <a:sym typeface="Roboto"/>
            </a:endParaRPr>
          </a:p>
        </p:txBody>
      </p:sp>
      <p:sp>
        <p:nvSpPr>
          <p:cNvPr id="203" name="Google Shape;203;p19"/>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Vision perception without ground truth</a:t>
            </a:r>
            <a:endParaRPr b="1" sz="2800">
              <a:solidFill>
                <a:srgbClr val="F4F7FB"/>
              </a:solidFill>
              <a:latin typeface="Montserrat"/>
              <a:ea typeface="Montserrat"/>
              <a:cs typeface="Montserrat"/>
              <a:sym typeface="Montserrat"/>
            </a:endParaRPr>
          </a:p>
        </p:txBody>
      </p:sp>
      <p:sp>
        <p:nvSpPr>
          <p:cNvPr id="204" name="Google Shape;204;p19"/>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07</a:t>
            </a:r>
            <a:endParaRPr b="1" sz="1000">
              <a:solidFill>
                <a:srgbClr val="91A4B7"/>
              </a:solidFill>
              <a:latin typeface="Roboto"/>
              <a:ea typeface="Roboto"/>
              <a:cs typeface="Roboto"/>
              <a:sym typeface="Roboto"/>
            </a:endParaRPr>
          </a:p>
        </p:txBody>
      </p:sp>
      <p:cxnSp>
        <p:nvCxnSpPr>
          <p:cNvPr id="205" name="Google Shape;205;p19"/>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206" name="Google Shape;206;p19"/>
          <p:cNvSpPr/>
          <p:nvPr/>
        </p:nvSpPr>
        <p:spPr>
          <a:xfrm>
            <a:off x="431800" y="1333500"/>
            <a:ext cx="2603400" cy="1193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19"/>
          <p:cNvSpPr txBox="1"/>
          <p:nvPr/>
        </p:nvSpPr>
        <p:spPr>
          <a:xfrm>
            <a:off x="609600" y="1511300"/>
            <a:ext cx="2247900" cy="203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MEAN POSITION ERROR</a:t>
            </a:r>
            <a:endParaRPr b="1" sz="800">
              <a:solidFill>
                <a:srgbClr val="91A4B7"/>
              </a:solidFill>
              <a:latin typeface="Roboto"/>
              <a:ea typeface="Roboto"/>
              <a:cs typeface="Roboto"/>
              <a:sym typeface="Roboto"/>
            </a:endParaRPr>
          </a:p>
        </p:txBody>
      </p:sp>
      <p:sp>
        <p:nvSpPr>
          <p:cNvPr id="208" name="Google Shape;208;p19"/>
          <p:cNvSpPr txBox="1"/>
          <p:nvPr/>
        </p:nvSpPr>
        <p:spPr>
          <a:xfrm>
            <a:off x="609600" y="1841500"/>
            <a:ext cx="2247900" cy="431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200">
                <a:solidFill>
                  <a:srgbClr val="36E5FF"/>
                </a:solidFill>
                <a:latin typeface="Montserrat"/>
                <a:ea typeface="Montserrat"/>
                <a:cs typeface="Montserrat"/>
                <a:sym typeface="Montserrat"/>
              </a:rPr>
              <a:t>≈ 0.7 cm</a:t>
            </a:r>
            <a:endParaRPr b="1" sz="2200">
              <a:solidFill>
                <a:srgbClr val="36E5FF"/>
              </a:solidFill>
              <a:latin typeface="Montserrat"/>
              <a:ea typeface="Montserrat"/>
              <a:cs typeface="Montserrat"/>
              <a:sym typeface="Montserrat"/>
            </a:endParaRPr>
          </a:p>
        </p:txBody>
      </p:sp>
      <p:sp>
        <p:nvSpPr>
          <p:cNvPr id="209" name="Google Shape;209;p19"/>
          <p:cNvSpPr/>
          <p:nvPr/>
        </p:nvSpPr>
        <p:spPr>
          <a:xfrm>
            <a:off x="3263900" y="1333500"/>
            <a:ext cx="2603400" cy="1193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9"/>
          <p:cNvSpPr txBox="1"/>
          <p:nvPr/>
        </p:nvSpPr>
        <p:spPr>
          <a:xfrm>
            <a:off x="3441700" y="1511300"/>
            <a:ext cx="2247900" cy="203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WORST-CASE ERROR</a:t>
            </a:r>
            <a:endParaRPr b="1" sz="800">
              <a:solidFill>
                <a:srgbClr val="91A4B7"/>
              </a:solidFill>
              <a:latin typeface="Roboto"/>
              <a:ea typeface="Roboto"/>
              <a:cs typeface="Roboto"/>
              <a:sym typeface="Roboto"/>
            </a:endParaRPr>
          </a:p>
        </p:txBody>
      </p:sp>
      <p:sp>
        <p:nvSpPr>
          <p:cNvPr id="211" name="Google Shape;211;p19"/>
          <p:cNvSpPr txBox="1"/>
          <p:nvPr/>
        </p:nvSpPr>
        <p:spPr>
          <a:xfrm>
            <a:off x="3441700" y="1841500"/>
            <a:ext cx="2247900" cy="431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200">
                <a:solidFill>
                  <a:srgbClr val="FFCB57"/>
                </a:solidFill>
                <a:latin typeface="Montserrat"/>
                <a:ea typeface="Montserrat"/>
                <a:cs typeface="Montserrat"/>
                <a:sym typeface="Montserrat"/>
              </a:rPr>
              <a:t>2.4 cm</a:t>
            </a:r>
            <a:endParaRPr b="1" sz="2200">
              <a:solidFill>
                <a:srgbClr val="FFCB57"/>
              </a:solidFill>
              <a:latin typeface="Montserrat"/>
              <a:ea typeface="Montserrat"/>
              <a:cs typeface="Montserrat"/>
              <a:sym typeface="Montserrat"/>
            </a:endParaRPr>
          </a:p>
        </p:txBody>
      </p:sp>
      <p:sp>
        <p:nvSpPr>
          <p:cNvPr id="212" name="Google Shape;212;p19"/>
          <p:cNvSpPr/>
          <p:nvPr/>
        </p:nvSpPr>
        <p:spPr>
          <a:xfrm>
            <a:off x="6096000" y="1333500"/>
            <a:ext cx="2616300" cy="1193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19"/>
          <p:cNvSpPr txBox="1"/>
          <p:nvPr/>
        </p:nvSpPr>
        <p:spPr>
          <a:xfrm>
            <a:off x="6273800" y="1511300"/>
            <a:ext cx="2260500" cy="203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MODEL SIZE</a:t>
            </a:r>
            <a:endParaRPr b="1" sz="800">
              <a:solidFill>
                <a:srgbClr val="91A4B7"/>
              </a:solidFill>
              <a:latin typeface="Roboto"/>
              <a:ea typeface="Roboto"/>
              <a:cs typeface="Roboto"/>
              <a:sym typeface="Roboto"/>
            </a:endParaRPr>
          </a:p>
        </p:txBody>
      </p:sp>
      <p:sp>
        <p:nvSpPr>
          <p:cNvPr id="214" name="Google Shape;214;p19"/>
          <p:cNvSpPr txBox="1"/>
          <p:nvPr/>
        </p:nvSpPr>
        <p:spPr>
          <a:xfrm>
            <a:off x="6273800" y="1841500"/>
            <a:ext cx="2260500" cy="431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200">
                <a:solidFill>
                  <a:srgbClr val="4D8DFF"/>
                </a:solidFill>
                <a:latin typeface="Montserrat"/>
                <a:ea typeface="Montserrat"/>
                <a:cs typeface="Montserrat"/>
                <a:sym typeface="Montserrat"/>
              </a:rPr>
              <a:t>≈ 146K params</a:t>
            </a:r>
            <a:endParaRPr b="1" sz="2200">
              <a:solidFill>
                <a:srgbClr val="4D8DFF"/>
              </a:solidFill>
              <a:latin typeface="Montserrat"/>
              <a:ea typeface="Montserrat"/>
              <a:cs typeface="Montserrat"/>
              <a:sym typeface="Montserrat"/>
            </a:endParaRPr>
          </a:p>
        </p:txBody>
      </p:sp>
      <p:sp>
        <p:nvSpPr>
          <p:cNvPr id="215" name="Google Shape;215;p19"/>
          <p:cNvSpPr/>
          <p:nvPr/>
        </p:nvSpPr>
        <p:spPr>
          <a:xfrm>
            <a:off x="431800" y="2768600"/>
            <a:ext cx="2603400" cy="1193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19"/>
          <p:cNvSpPr txBox="1"/>
          <p:nvPr/>
        </p:nvSpPr>
        <p:spPr>
          <a:xfrm>
            <a:off x="609600" y="2946400"/>
            <a:ext cx="2247900" cy="203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P50 LATENCY, CPU</a:t>
            </a:r>
            <a:endParaRPr b="1" sz="800">
              <a:solidFill>
                <a:srgbClr val="91A4B7"/>
              </a:solidFill>
              <a:latin typeface="Roboto"/>
              <a:ea typeface="Roboto"/>
              <a:cs typeface="Roboto"/>
              <a:sym typeface="Roboto"/>
            </a:endParaRPr>
          </a:p>
        </p:txBody>
      </p:sp>
      <p:sp>
        <p:nvSpPr>
          <p:cNvPr id="217" name="Google Shape;217;p19"/>
          <p:cNvSpPr txBox="1"/>
          <p:nvPr/>
        </p:nvSpPr>
        <p:spPr>
          <a:xfrm>
            <a:off x="609600" y="3200400"/>
            <a:ext cx="2247900" cy="59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300">
                <a:solidFill>
                  <a:srgbClr val="36F09B"/>
                </a:solidFill>
                <a:latin typeface="Montserrat"/>
                <a:ea typeface="Montserrat"/>
                <a:cs typeface="Montserrat"/>
                <a:sym typeface="Montserrat"/>
              </a:rPr>
              <a:t>ONNX Runtime  0.5 ms</a:t>
            </a:r>
            <a:endParaRPr b="1" sz="1300">
              <a:solidFill>
                <a:srgbClr val="36F09B"/>
              </a:solidFill>
              <a:latin typeface="Montserrat"/>
              <a:ea typeface="Montserrat"/>
              <a:cs typeface="Montserrat"/>
              <a:sym typeface="Montserrat"/>
            </a:endParaRPr>
          </a:p>
          <a:p>
            <a:pPr indent="0" lvl="0" marL="0" rtl="0" algn="l">
              <a:lnSpc>
                <a:spcPct val="100000"/>
              </a:lnSpc>
              <a:spcBef>
                <a:spcPts val="0"/>
              </a:spcBef>
              <a:spcAft>
                <a:spcPts val="0"/>
              </a:spcAft>
              <a:buNone/>
            </a:pPr>
            <a:r>
              <a:rPr b="1" lang="th" sz="1300">
                <a:solidFill>
                  <a:srgbClr val="36F09B"/>
                </a:solidFill>
                <a:latin typeface="Montserrat"/>
                <a:ea typeface="Montserrat"/>
                <a:cs typeface="Montserrat"/>
                <a:sym typeface="Montserrat"/>
              </a:rPr>
              <a:t>OpenVINO       1.2 ms</a:t>
            </a:r>
            <a:endParaRPr b="1" sz="1300">
              <a:solidFill>
                <a:srgbClr val="36F09B"/>
              </a:solidFill>
              <a:latin typeface="Montserrat"/>
              <a:ea typeface="Montserrat"/>
              <a:cs typeface="Montserrat"/>
              <a:sym typeface="Montserrat"/>
            </a:endParaRPr>
          </a:p>
        </p:txBody>
      </p:sp>
      <p:sp>
        <p:nvSpPr>
          <p:cNvPr id="218" name="Google Shape;218;p19"/>
          <p:cNvSpPr/>
          <p:nvPr/>
        </p:nvSpPr>
        <p:spPr>
          <a:xfrm>
            <a:off x="3263900" y="2768600"/>
            <a:ext cx="5448300" cy="11937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19"/>
          <p:cNvSpPr txBox="1"/>
          <p:nvPr/>
        </p:nvSpPr>
        <p:spPr>
          <a:xfrm>
            <a:off x="3479800" y="2946400"/>
            <a:ext cx="2793900" cy="203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OPENVINO VS ONNX RUNTIME</a:t>
            </a:r>
            <a:endParaRPr b="1" sz="800">
              <a:solidFill>
                <a:srgbClr val="91A4B7"/>
              </a:solidFill>
              <a:latin typeface="Roboto"/>
              <a:ea typeface="Roboto"/>
              <a:cs typeface="Roboto"/>
              <a:sym typeface="Roboto"/>
            </a:endParaRPr>
          </a:p>
        </p:txBody>
      </p:sp>
      <p:sp>
        <p:nvSpPr>
          <p:cNvPr id="220" name="Google Shape;220;p19"/>
          <p:cNvSpPr txBox="1"/>
          <p:nvPr/>
        </p:nvSpPr>
        <p:spPr>
          <a:xfrm>
            <a:off x="3479800" y="3225800"/>
            <a:ext cx="1333500" cy="457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600">
                <a:solidFill>
                  <a:srgbClr val="FF5D6C"/>
                </a:solidFill>
                <a:latin typeface="Montserrat"/>
                <a:ea typeface="Montserrat"/>
                <a:cs typeface="Montserrat"/>
                <a:sym typeface="Montserrat"/>
              </a:rPr>
              <a:t>0.44×</a:t>
            </a:r>
            <a:endParaRPr b="1" sz="2600">
              <a:solidFill>
                <a:srgbClr val="FF5D6C"/>
              </a:solidFill>
              <a:latin typeface="Montserrat"/>
              <a:ea typeface="Montserrat"/>
              <a:cs typeface="Montserrat"/>
              <a:sym typeface="Montserrat"/>
            </a:endParaRPr>
          </a:p>
        </p:txBody>
      </p:sp>
      <p:sp>
        <p:nvSpPr>
          <p:cNvPr id="221" name="Google Shape;221;p19"/>
          <p:cNvSpPr txBox="1"/>
          <p:nvPr/>
        </p:nvSpPr>
        <p:spPr>
          <a:xfrm>
            <a:off x="4889500" y="3073400"/>
            <a:ext cx="3492600" cy="6858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th" sz="1200">
                <a:solidFill>
                  <a:srgbClr val="F4F7FB"/>
                </a:solidFill>
                <a:latin typeface="Roboto"/>
                <a:ea typeface="Roboto"/>
                <a:cs typeface="Roboto"/>
                <a:sym typeface="Roboto"/>
              </a:rPr>
              <a:t>speedup ratio</a:t>
            </a:r>
            <a:endParaRPr b="1" sz="1200">
              <a:solidFill>
                <a:srgbClr val="F4F7FB"/>
              </a:solidFill>
              <a:latin typeface="Roboto"/>
              <a:ea typeface="Roboto"/>
              <a:cs typeface="Roboto"/>
              <a:sym typeface="Roboto"/>
            </a:endParaRPr>
          </a:p>
          <a:p>
            <a:pPr indent="0" lvl="0" marL="0" rtl="0" algn="l">
              <a:lnSpc>
                <a:spcPct val="105000"/>
              </a:lnSpc>
              <a:spcBef>
                <a:spcPts val="0"/>
              </a:spcBef>
              <a:spcAft>
                <a:spcPts val="0"/>
              </a:spcAft>
              <a:buNone/>
            </a:pPr>
            <a:r>
              <a:rPr b="1" lang="th" sz="1200">
                <a:solidFill>
                  <a:srgbClr val="F4F7FB"/>
                </a:solidFill>
                <a:latin typeface="Roboto"/>
                <a:ea typeface="Roboto"/>
                <a:cs typeface="Roboto"/>
                <a:sym typeface="Roboto"/>
              </a:rPr>
              <a:t>≈2.3× slower on this tiny CPU model</a:t>
            </a:r>
            <a:endParaRPr b="1" sz="1200">
              <a:solidFill>
                <a:srgbClr val="F4F7FB"/>
              </a:solidFill>
              <a:latin typeface="Roboto"/>
              <a:ea typeface="Roboto"/>
              <a:cs typeface="Roboto"/>
              <a:sym typeface="Roboto"/>
            </a:endParaRPr>
          </a:p>
          <a:p>
            <a:pPr indent="0" lvl="0" marL="0" rtl="0" algn="l">
              <a:lnSpc>
                <a:spcPct val="105000"/>
              </a:lnSpc>
              <a:spcBef>
                <a:spcPts val="0"/>
              </a:spcBef>
              <a:spcAft>
                <a:spcPts val="0"/>
              </a:spcAft>
              <a:buNone/>
            </a:pPr>
            <a:r>
              <a:rPr b="1" lang="th" sz="1200">
                <a:solidFill>
                  <a:srgbClr val="F4F7FB"/>
                </a:solidFill>
                <a:latin typeface="Roboto"/>
                <a:ea typeface="Roboto"/>
                <a:cs typeface="Roboto"/>
                <a:sym typeface="Roboto"/>
              </a:rPr>
              <a:t>NO SPEEDUP CLAIMED</a:t>
            </a:r>
            <a:endParaRPr b="1" sz="1200">
              <a:solidFill>
                <a:srgbClr val="F4F7FB"/>
              </a:solidFill>
              <a:latin typeface="Roboto"/>
              <a:ea typeface="Roboto"/>
              <a:cs typeface="Roboto"/>
              <a:sym typeface="Roboto"/>
            </a:endParaRPr>
          </a:p>
        </p:txBody>
      </p:sp>
      <p:sp>
        <p:nvSpPr>
          <p:cNvPr id="222" name="Google Shape;222;p19"/>
          <p:cNvSpPr/>
          <p:nvPr/>
        </p:nvSpPr>
        <p:spPr>
          <a:xfrm>
            <a:off x="431800" y="4318000"/>
            <a:ext cx="8280300" cy="533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200">
                <a:solidFill>
                  <a:srgbClr val="F4F7FB"/>
                </a:solidFill>
                <a:latin typeface="Roboto"/>
                <a:ea typeface="Roboto"/>
                <a:cs typeface="Roboto"/>
                <a:sym typeface="Roboto"/>
              </a:rPr>
              <a:t>Both median latencies are below 2 ms. Tail latency remains visible in the G7 artifact.</a:t>
            </a:r>
            <a:endParaRPr b="1" sz="1200">
              <a:solidFill>
                <a:srgbClr val="F4F7FB"/>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226" name="Shape 226"/>
        <p:cNvGrpSpPr/>
        <p:nvPr/>
      </p:nvGrpSpPr>
      <p:grpSpPr>
        <a:xfrm>
          <a:off x="0" y="0"/>
          <a:ext cx="0" cy="0"/>
          <a:chOff x="0" y="0"/>
          <a:chExt cx="0" cy="0"/>
        </a:xfrm>
      </p:grpSpPr>
      <p:sp>
        <p:nvSpPr>
          <p:cNvPr id="227" name="Google Shape;227;p20"/>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EVIDENCE CHAIN</a:t>
            </a:r>
            <a:endParaRPr b="1" sz="900">
              <a:solidFill>
                <a:srgbClr val="36E5FF"/>
              </a:solidFill>
              <a:latin typeface="Roboto"/>
              <a:ea typeface="Roboto"/>
              <a:cs typeface="Roboto"/>
              <a:sym typeface="Roboto"/>
            </a:endParaRPr>
          </a:p>
        </p:txBody>
      </p:sp>
      <p:sp>
        <p:nvSpPr>
          <p:cNvPr id="228" name="Google Shape;228;p20"/>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Evidence chain and reproducibility</a:t>
            </a:r>
            <a:endParaRPr b="1" sz="2800">
              <a:solidFill>
                <a:srgbClr val="F4F7FB"/>
              </a:solidFill>
              <a:latin typeface="Montserrat"/>
              <a:ea typeface="Montserrat"/>
              <a:cs typeface="Montserrat"/>
              <a:sym typeface="Montserrat"/>
            </a:endParaRPr>
          </a:p>
        </p:txBody>
      </p:sp>
      <p:sp>
        <p:nvSpPr>
          <p:cNvPr id="229" name="Google Shape;229;p20"/>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08</a:t>
            </a:r>
            <a:endParaRPr b="1" sz="1000">
              <a:solidFill>
                <a:srgbClr val="91A4B7"/>
              </a:solidFill>
              <a:latin typeface="Roboto"/>
              <a:ea typeface="Roboto"/>
              <a:cs typeface="Roboto"/>
              <a:sym typeface="Roboto"/>
            </a:endParaRPr>
          </a:p>
        </p:txBody>
      </p:sp>
      <p:cxnSp>
        <p:nvCxnSpPr>
          <p:cNvPr id="230" name="Google Shape;230;p20"/>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231" name="Google Shape;231;p20"/>
          <p:cNvSpPr/>
          <p:nvPr/>
        </p:nvSpPr>
        <p:spPr>
          <a:xfrm>
            <a:off x="431800" y="1320800"/>
            <a:ext cx="3429000" cy="5334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0"/>
          <p:cNvSpPr txBox="1"/>
          <p:nvPr/>
        </p:nvSpPr>
        <p:spPr>
          <a:xfrm>
            <a:off x="609600" y="1422400"/>
            <a:ext cx="888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CLAIM</a:t>
            </a:r>
            <a:endParaRPr b="1" sz="900">
              <a:solidFill>
                <a:srgbClr val="36E5FF"/>
              </a:solidFill>
              <a:latin typeface="Roboto"/>
              <a:ea typeface="Roboto"/>
              <a:cs typeface="Roboto"/>
              <a:sym typeface="Roboto"/>
            </a:endParaRPr>
          </a:p>
        </p:txBody>
      </p:sp>
      <p:sp>
        <p:nvSpPr>
          <p:cNvPr id="233" name="Google Shape;233;p20"/>
          <p:cNvSpPr txBox="1"/>
          <p:nvPr/>
        </p:nvSpPr>
        <p:spPr>
          <a:xfrm>
            <a:off x="1524000" y="1422400"/>
            <a:ext cx="2133600" cy="254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F4F7FB"/>
                </a:solidFill>
                <a:latin typeface="Roboto"/>
                <a:ea typeface="Roboto"/>
                <a:cs typeface="Roboto"/>
                <a:sym typeface="Roboto"/>
              </a:rPr>
              <a:t>Governed recovery is resilient</a:t>
            </a:r>
            <a:endParaRPr b="1" sz="1000">
              <a:solidFill>
                <a:srgbClr val="F4F7FB"/>
              </a:solidFill>
              <a:latin typeface="Roboto"/>
              <a:ea typeface="Roboto"/>
              <a:cs typeface="Roboto"/>
              <a:sym typeface="Roboto"/>
            </a:endParaRPr>
          </a:p>
        </p:txBody>
      </p:sp>
      <p:cxnSp>
        <p:nvCxnSpPr>
          <p:cNvPr id="234" name="Google Shape;234;p20"/>
          <p:cNvCxnSpPr/>
          <p:nvPr/>
        </p:nvCxnSpPr>
        <p:spPr>
          <a:xfrm>
            <a:off x="2146300" y="1854200"/>
            <a:ext cx="0" cy="177900"/>
          </a:xfrm>
          <a:prstGeom prst="straightConnector1">
            <a:avLst/>
          </a:prstGeom>
          <a:noFill/>
          <a:ln cap="flat" cmpd="sng" w="25400">
            <a:solidFill>
              <a:srgbClr val="36E5FF"/>
            </a:solidFill>
            <a:prstDash val="solid"/>
            <a:round/>
            <a:headEnd len="med" w="med" type="none"/>
            <a:tailEnd len="med" w="med" type="stealth"/>
          </a:ln>
        </p:spPr>
      </p:cxnSp>
      <p:sp>
        <p:nvSpPr>
          <p:cNvPr id="235" name="Google Shape;235;p20"/>
          <p:cNvSpPr/>
          <p:nvPr/>
        </p:nvSpPr>
        <p:spPr>
          <a:xfrm>
            <a:off x="431800" y="2032000"/>
            <a:ext cx="3429000" cy="5334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0"/>
          <p:cNvSpPr txBox="1"/>
          <p:nvPr/>
        </p:nvSpPr>
        <p:spPr>
          <a:xfrm>
            <a:off x="609600" y="2133600"/>
            <a:ext cx="888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4D8DFF"/>
                </a:solidFill>
                <a:latin typeface="Roboto"/>
                <a:ea typeface="Roboto"/>
                <a:cs typeface="Roboto"/>
                <a:sym typeface="Roboto"/>
              </a:rPr>
              <a:t>GATE</a:t>
            </a:r>
            <a:endParaRPr b="1" sz="900">
              <a:solidFill>
                <a:srgbClr val="4D8DFF"/>
              </a:solidFill>
              <a:latin typeface="Roboto"/>
              <a:ea typeface="Roboto"/>
              <a:cs typeface="Roboto"/>
              <a:sym typeface="Roboto"/>
            </a:endParaRPr>
          </a:p>
        </p:txBody>
      </p:sp>
      <p:sp>
        <p:nvSpPr>
          <p:cNvPr id="237" name="Google Shape;237;p20"/>
          <p:cNvSpPr txBox="1"/>
          <p:nvPr/>
        </p:nvSpPr>
        <p:spPr>
          <a:xfrm>
            <a:off x="1524000" y="2133600"/>
            <a:ext cx="2133600" cy="254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F4F7FB"/>
                </a:solidFill>
                <a:latin typeface="Roboto"/>
                <a:ea typeface="Roboto"/>
                <a:cs typeface="Roboto"/>
                <a:sym typeface="Roboto"/>
              </a:rPr>
              <a:t>G6 apples-to-apples test</a:t>
            </a:r>
            <a:endParaRPr b="1" sz="1000">
              <a:solidFill>
                <a:srgbClr val="F4F7FB"/>
              </a:solidFill>
              <a:latin typeface="Roboto"/>
              <a:ea typeface="Roboto"/>
              <a:cs typeface="Roboto"/>
              <a:sym typeface="Roboto"/>
            </a:endParaRPr>
          </a:p>
        </p:txBody>
      </p:sp>
      <p:cxnSp>
        <p:nvCxnSpPr>
          <p:cNvPr id="238" name="Google Shape;238;p20"/>
          <p:cNvCxnSpPr/>
          <p:nvPr/>
        </p:nvCxnSpPr>
        <p:spPr>
          <a:xfrm>
            <a:off x="2146300" y="2565400"/>
            <a:ext cx="0" cy="177900"/>
          </a:xfrm>
          <a:prstGeom prst="straightConnector1">
            <a:avLst/>
          </a:prstGeom>
          <a:noFill/>
          <a:ln cap="flat" cmpd="sng" w="25400">
            <a:solidFill>
              <a:srgbClr val="4D8DFF"/>
            </a:solidFill>
            <a:prstDash val="solid"/>
            <a:round/>
            <a:headEnd len="med" w="med" type="none"/>
            <a:tailEnd len="med" w="med" type="stealth"/>
          </a:ln>
        </p:spPr>
      </p:cxnSp>
      <p:sp>
        <p:nvSpPr>
          <p:cNvPr id="239" name="Google Shape;239;p20"/>
          <p:cNvSpPr/>
          <p:nvPr/>
        </p:nvSpPr>
        <p:spPr>
          <a:xfrm>
            <a:off x="431800" y="2743200"/>
            <a:ext cx="3429000" cy="5334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0"/>
          <p:cNvSpPr txBox="1"/>
          <p:nvPr/>
        </p:nvSpPr>
        <p:spPr>
          <a:xfrm>
            <a:off x="609600" y="2844800"/>
            <a:ext cx="888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FFCB57"/>
                </a:solidFill>
                <a:latin typeface="Roboto"/>
                <a:ea typeface="Roboto"/>
                <a:cs typeface="Roboto"/>
                <a:sym typeface="Roboto"/>
              </a:rPr>
              <a:t>ARTIFACT</a:t>
            </a:r>
            <a:endParaRPr b="1" sz="900">
              <a:solidFill>
                <a:srgbClr val="FFCB57"/>
              </a:solidFill>
              <a:latin typeface="Roboto"/>
              <a:ea typeface="Roboto"/>
              <a:cs typeface="Roboto"/>
              <a:sym typeface="Roboto"/>
            </a:endParaRPr>
          </a:p>
        </p:txBody>
      </p:sp>
      <p:sp>
        <p:nvSpPr>
          <p:cNvPr id="241" name="Google Shape;241;p20"/>
          <p:cNvSpPr txBox="1"/>
          <p:nvPr/>
        </p:nvSpPr>
        <p:spPr>
          <a:xfrm>
            <a:off x="1524000" y="2844800"/>
            <a:ext cx="2133600" cy="254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F4F7FB"/>
                </a:solidFill>
                <a:latin typeface="Roboto"/>
                <a:ea typeface="Roboto"/>
                <a:cs typeface="Roboto"/>
                <a:sym typeface="Roboto"/>
              </a:rPr>
              <a:t>results/g6_reliability.json</a:t>
            </a:r>
            <a:endParaRPr b="1" sz="1000">
              <a:solidFill>
                <a:srgbClr val="F4F7FB"/>
              </a:solidFill>
              <a:latin typeface="Roboto"/>
              <a:ea typeface="Roboto"/>
              <a:cs typeface="Roboto"/>
              <a:sym typeface="Roboto"/>
            </a:endParaRPr>
          </a:p>
        </p:txBody>
      </p:sp>
      <p:cxnSp>
        <p:nvCxnSpPr>
          <p:cNvPr id="242" name="Google Shape;242;p20"/>
          <p:cNvCxnSpPr/>
          <p:nvPr/>
        </p:nvCxnSpPr>
        <p:spPr>
          <a:xfrm>
            <a:off x="2146300" y="3276600"/>
            <a:ext cx="0" cy="177900"/>
          </a:xfrm>
          <a:prstGeom prst="straightConnector1">
            <a:avLst/>
          </a:prstGeom>
          <a:noFill/>
          <a:ln cap="flat" cmpd="sng" w="25400">
            <a:solidFill>
              <a:srgbClr val="FFCB57"/>
            </a:solidFill>
            <a:prstDash val="solid"/>
            <a:round/>
            <a:headEnd len="med" w="med" type="none"/>
            <a:tailEnd len="med" w="med" type="stealth"/>
          </a:ln>
        </p:spPr>
      </p:cxnSp>
      <p:sp>
        <p:nvSpPr>
          <p:cNvPr id="243" name="Google Shape;243;p20"/>
          <p:cNvSpPr/>
          <p:nvPr/>
        </p:nvSpPr>
        <p:spPr>
          <a:xfrm>
            <a:off x="431800" y="3454400"/>
            <a:ext cx="3429000" cy="5334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20"/>
          <p:cNvSpPr txBox="1"/>
          <p:nvPr/>
        </p:nvSpPr>
        <p:spPr>
          <a:xfrm>
            <a:off x="609600" y="3556000"/>
            <a:ext cx="888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F09B"/>
                </a:solidFill>
                <a:latin typeface="Roboto"/>
                <a:ea typeface="Roboto"/>
                <a:cs typeface="Roboto"/>
                <a:sym typeface="Roboto"/>
              </a:rPr>
              <a:t>REPLAY</a:t>
            </a:r>
            <a:endParaRPr b="1" sz="900">
              <a:solidFill>
                <a:srgbClr val="36F09B"/>
              </a:solidFill>
              <a:latin typeface="Roboto"/>
              <a:ea typeface="Roboto"/>
              <a:cs typeface="Roboto"/>
              <a:sym typeface="Roboto"/>
            </a:endParaRPr>
          </a:p>
        </p:txBody>
      </p:sp>
      <p:sp>
        <p:nvSpPr>
          <p:cNvPr id="245" name="Google Shape;245;p20"/>
          <p:cNvSpPr txBox="1"/>
          <p:nvPr/>
        </p:nvSpPr>
        <p:spPr>
          <a:xfrm>
            <a:off x="1524000" y="3556000"/>
            <a:ext cx="2133600" cy="254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a:solidFill>
                  <a:srgbClr val="F4F7FB"/>
                </a:solidFill>
                <a:latin typeface="Roboto"/>
                <a:ea typeface="Roboto"/>
                <a:cs typeface="Roboto"/>
                <a:sym typeface="Roboto"/>
              </a:rPr>
              <a:t>same seed + same disturbance</a:t>
            </a:r>
            <a:endParaRPr b="1" sz="1000">
              <a:solidFill>
                <a:srgbClr val="F4F7FB"/>
              </a:solidFill>
              <a:latin typeface="Roboto"/>
              <a:ea typeface="Roboto"/>
              <a:cs typeface="Roboto"/>
              <a:sym typeface="Roboto"/>
            </a:endParaRPr>
          </a:p>
        </p:txBody>
      </p:sp>
      <p:sp>
        <p:nvSpPr>
          <p:cNvPr id="246" name="Google Shape;246;p20"/>
          <p:cNvSpPr/>
          <p:nvPr/>
        </p:nvSpPr>
        <p:spPr>
          <a:xfrm>
            <a:off x="4216400" y="1320800"/>
            <a:ext cx="4495800" cy="2667000"/>
          </a:xfrm>
          <a:prstGeom prst="roundRect">
            <a:avLst>
              <a:gd fmla="val 16667" name="adj"/>
            </a:avLst>
          </a:prstGeom>
          <a:solidFill>
            <a:srgbClr val="02070D"/>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0"/>
          <p:cNvSpPr txBox="1"/>
          <p:nvPr/>
        </p:nvSpPr>
        <p:spPr>
          <a:xfrm>
            <a:off x="4470400" y="1524000"/>
            <a:ext cx="3987900" cy="22098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results/</a:t>
            </a:r>
            <a:endParaRPr sz="10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 g1_environment.json</a:t>
            </a:r>
            <a:endParaRPr sz="10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 g2_baseline.json</a:t>
            </a:r>
            <a:endParaRPr sz="10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 g3_failure.json</a:t>
            </a:r>
            <a:endParaRPr sz="10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 g4_detection_vision_t03.json</a:t>
            </a:r>
            <a:endParaRPr sz="10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 g5_recovery_vision.json</a:t>
            </a:r>
            <a:endParaRPr sz="10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 g6_reliability.json</a:t>
            </a:r>
            <a:endParaRPr sz="1000">
              <a:solidFill>
                <a:srgbClr val="F4F7FB"/>
              </a:solidFill>
              <a:latin typeface="Roboto Mono"/>
              <a:ea typeface="Roboto Mono"/>
              <a:cs typeface="Roboto Mono"/>
              <a:sym typeface="Roboto Mono"/>
            </a:endParaRPr>
          </a:p>
          <a:p>
            <a:pPr indent="0" lvl="0" marL="0" rtl="0" algn="l">
              <a:lnSpc>
                <a:spcPct val="105000"/>
              </a:lnSpc>
              <a:spcBef>
                <a:spcPts val="0"/>
              </a:spcBef>
              <a:spcAft>
                <a:spcPts val="0"/>
              </a:spcAft>
              <a:buNone/>
            </a:pPr>
            <a:r>
              <a:rPr lang="th" sz="1000">
                <a:solidFill>
                  <a:srgbClr val="F4F7FB"/>
                </a:solidFill>
                <a:latin typeface="Roboto Mono"/>
                <a:ea typeface="Roboto Mono"/>
                <a:cs typeface="Roboto Mono"/>
                <a:sym typeface="Roboto Mono"/>
              </a:rPr>
              <a:t>└─ g7_openvino.json</a:t>
            </a:r>
            <a:endParaRPr sz="1000">
              <a:solidFill>
                <a:srgbClr val="F4F7FB"/>
              </a:solidFill>
              <a:latin typeface="Roboto Mono"/>
              <a:ea typeface="Roboto Mono"/>
              <a:cs typeface="Roboto Mono"/>
              <a:sym typeface="Roboto Mono"/>
            </a:endParaRPr>
          </a:p>
        </p:txBody>
      </p:sp>
      <p:sp>
        <p:nvSpPr>
          <p:cNvPr id="248" name="Google Shape;248;p20"/>
          <p:cNvSpPr/>
          <p:nvPr/>
        </p:nvSpPr>
        <p:spPr>
          <a:xfrm>
            <a:off x="431800" y="4254500"/>
            <a:ext cx="10413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G1  PASS</a:t>
            </a:r>
            <a:endParaRPr b="1" sz="800">
              <a:solidFill>
                <a:srgbClr val="36E5FF"/>
              </a:solidFill>
              <a:latin typeface="Roboto"/>
              <a:ea typeface="Roboto"/>
              <a:cs typeface="Roboto"/>
              <a:sym typeface="Roboto"/>
            </a:endParaRPr>
          </a:p>
        </p:txBody>
      </p:sp>
      <p:sp>
        <p:nvSpPr>
          <p:cNvPr id="249" name="Google Shape;249;p20"/>
          <p:cNvSpPr/>
          <p:nvPr/>
        </p:nvSpPr>
        <p:spPr>
          <a:xfrm>
            <a:off x="1612900" y="4254500"/>
            <a:ext cx="10413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G2  PASS</a:t>
            </a:r>
            <a:endParaRPr b="1" sz="800">
              <a:solidFill>
                <a:srgbClr val="36E5FF"/>
              </a:solidFill>
              <a:latin typeface="Roboto"/>
              <a:ea typeface="Roboto"/>
              <a:cs typeface="Roboto"/>
              <a:sym typeface="Roboto"/>
            </a:endParaRPr>
          </a:p>
        </p:txBody>
      </p:sp>
      <p:sp>
        <p:nvSpPr>
          <p:cNvPr id="250" name="Google Shape;250;p20"/>
          <p:cNvSpPr/>
          <p:nvPr/>
        </p:nvSpPr>
        <p:spPr>
          <a:xfrm>
            <a:off x="2794000" y="4254500"/>
            <a:ext cx="10413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G3  PASS</a:t>
            </a:r>
            <a:endParaRPr b="1" sz="800">
              <a:solidFill>
                <a:srgbClr val="36E5FF"/>
              </a:solidFill>
              <a:latin typeface="Roboto"/>
              <a:ea typeface="Roboto"/>
              <a:cs typeface="Roboto"/>
              <a:sym typeface="Roboto"/>
            </a:endParaRPr>
          </a:p>
        </p:txBody>
      </p:sp>
      <p:sp>
        <p:nvSpPr>
          <p:cNvPr id="251" name="Google Shape;251;p20"/>
          <p:cNvSpPr/>
          <p:nvPr/>
        </p:nvSpPr>
        <p:spPr>
          <a:xfrm>
            <a:off x="3975100" y="4254500"/>
            <a:ext cx="10413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G4  PASS</a:t>
            </a:r>
            <a:endParaRPr b="1" sz="800">
              <a:solidFill>
                <a:srgbClr val="36E5FF"/>
              </a:solidFill>
              <a:latin typeface="Roboto"/>
              <a:ea typeface="Roboto"/>
              <a:cs typeface="Roboto"/>
              <a:sym typeface="Roboto"/>
            </a:endParaRPr>
          </a:p>
        </p:txBody>
      </p:sp>
      <p:sp>
        <p:nvSpPr>
          <p:cNvPr id="252" name="Google Shape;252;p20"/>
          <p:cNvSpPr/>
          <p:nvPr/>
        </p:nvSpPr>
        <p:spPr>
          <a:xfrm>
            <a:off x="5156200" y="4254500"/>
            <a:ext cx="10413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G5  PASS</a:t>
            </a:r>
            <a:endParaRPr b="1" sz="800">
              <a:solidFill>
                <a:srgbClr val="36E5FF"/>
              </a:solidFill>
              <a:latin typeface="Roboto"/>
              <a:ea typeface="Roboto"/>
              <a:cs typeface="Roboto"/>
              <a:sym typeface="Roboto"/>
            </a:endParaRPr>
          </a:p>
        </p:txBody>
      </p:sp>
      <p:sp>
        <p:nvSpPr>
          <p:cNvPr id="253" name="Google Shape;253;p20"/>
          <p:cNvSpPr/>
          <p:nvPr/>
        </p:nvSpPr>
        <p:spPr>
          <a:xfrm>
            <a:off x="6337300" y="4254500"/>
            <a:ext cx="10413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G6  PASS</a:t>
            </a:r>
            <a:endParaRPr b="1" sz="800">
              <a:solidFill>
                <a:srgbClr val="36E5FF"/>
              </a:solidFill>
              <a:latin typeface="Roboto"/>
              <a:ea typeface="Roboto"/>
              <a:cs typeface="Roboto"/>
              <a:sym typeface="Roboto"/>
            </a:endParaRPr>
          </a:p>
        </p:txBody>
      </p:sp>
      <p:sp>
        <p:nvSpPr>
          <p:cNvPr id="254" name="Google Shape;254;p20"/>
          <p:cNvSpPr/>
          <p:nvPr/>
        </p:nvSpPr>
        <p:spPr>
          <a:xfrm>
            <a:off x="7518400" y="4254500"/>
            <a:ext cx="1041300" cy="317400"/>
          </a:xfrm>
          <a:prstGeom prst="roundRect">
            <a:avLst>
              <a:gd fmla="val 16667" name="adj"/>
            </a:avLst>
          </a:prstGeom>
          <a:solidFill>
            <a:srgbClr val="36F09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02070D"/>
                </a:solidFill>
                <a:latin typeface="Roboto"/>
                <a:ea typeface="Roboto"/>
                <a:cs typeface="Roboto"/>
                <a:sym typeface="Roboto"/>
              </a:rPr>
              <a:t>G7  PASS</a:t>
            </a:r>
            <a:endParaRPr b="1" sz="800">
              <a:solidFill>
                <a:srgbClr val="02070D"/>
              </a:solidFill>
              <a:latin typeface="Roboto"/>
              <a:ea typeface="Roboto"/>
              <a:cs typeface="Roboto"/>
              <a:sym typeface="Roboto"/>
            </a:endParaRPr>
          </a:p>
        </p:txBody>
      </p:sp>
      <p:sp>
        <p:nvSpPr>
          <p:cNvPr id="255" name="Google Shape;255;p20"/>
          <p:cNvSpPr txBox="1"/>
          <p:nvPr/>
        </p:nvSpPr>
        <p:spPr>
          <a:xfrm>
            <a:off x="431800" y="4635500"/>
            <a:ext cx="8280300" cy="431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th" sz="800">
                <a:solidFill>
                  <a:srgbClr val="36F09B"/>
                </a:solidFill>
                <a:latin typeface="Roboto Mono"/>
                <a:ea typeface="Roboto Mono"/>
                <a:cs typeface="Roboto Mono"/>
                <a:sym typeface="Roboto Mono"/>
              </a:rPr>
              <a:t>python experiments/run_g6_reliability.py \</a:t>
            </a:r>
            <a:endParaRPr sz="800">
              <a:solidFill>
                <a:srgbClr val="36F09B"/>
              </a:solidFill>
              <a:latin typeface="Roboto Mono"/>
              <a:ea typeface="Roboto Mono"/>
              <a:cs typeface="Roboto Mono"/>
              <a:sym typeface="Roboto Mono"/>
            </a:endParaRPr>
          </a:p>
          <a:p>
            <a:pPr indent="0" lvl="0" marL="0" rtl="0" algn="ctr">
              <a:lnSpc>
                <a:spcPct val="100000"/>
              </a:lnSpc>
              <a:spcBef>
                <a:spcPts val="0"/>
              </a:spcBef>
              <a:spcAft>
                <a:spcPts val="0"/>
              </a:spcAft>
              <a:buNone/>
            </a:pPr>
            <a:r>
              <a:rPr lang="th" sz="800">
                <a:solidFill>
                  <a:srgbClr val="36F09B"/>
                </a:solidFill>
                <a:latin typeface="Roboto Mono"/>
                <a:ea typeface="Roboto Mono"/>
                <a:cs typeface="Roboto Mono"/>
                <a:sym typeface="Roboto Mono"/>
              </a:rPr>
              <a:t>  --model models/dual_so101_g3.xml \</a:t>
            </a:r>
            <a:endParaRPr sz="800">
              <a:solidFill>
                <a:srgbClr val="36F09B"/>
              </a:solidFill>
              <a:latin typeface="Roboto Mono"/>
              <a:ea typeface="Roboto Mono"/>
              <a:cs typeface="Roboto Mono"/>
              <a:sym typeface="Roboto Mono"/>
            </a:endParaRPr>
          </a:p>
          <a:p>
            <a:pPr indent="0" lvl="0" marL="0" rtl="0" algn="ctr">
              <a:lnSpc>
                <a:spcPct val="100000"/>
              </a:lnSpc>
              <a:spcBef>
                <a:spcPts val="0"/>
              </a:spcBef>
              <a:spcAft>
                <a:spcPts val="0"/>
              </a:spcAft>
              <a:buNone/>
            </a:pPr>
            <a:r>
              <a:rPr lang="th" sz="800">
                <a:solidFill>
                  <a:srgbClr val="36F09B"/>
                </a:solidFill>
                <a:latin typeface="Roboto Mono"/>
                <a:ea typeface="Roboto Mono"/>
                <a:cs typeface="Roboto Mono"/>
                <a:sym typeface="Roboto Mono"/>
              </a:rPr>
              <a:t>  --trigger before_grasp --delta 0.10 0.0 0.0 --seed 42 --trials 10</a:t>
            </a:r>
            <a:endParaRPr sz="800">
              <a:solidFill>
                <a:srgbClr val="36F09B"/>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259" name="Shape 259"/>
        <p:cNvGrpSpPr/>
        <p:nvPr/>
      </p:nvGrpSpPr>
      <p:grpSpPr>
        <a:xfrm>
          <a:off x="0" y="0"/>
          <a:ext cx="0" cy="0"/>
          <a:chOff x="0" y="0"/>
          <a:chExt cx="0" cy="0"/>
        </a:xfrm>
      </p:grpSpPr>
      <p:sp>
        <p:nvSpPr>
          <p:cNvPr id="260" name="Google Shape;260;p21"/>
          <p:cNvSpPr txBox="1"/>
          <p:nvPr/>
        </p:nvSpPr>
        <p:spPr>
          <a:xfrm>
            <a:off x="431800" y="254000"/>
            <a:ext cx="609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HONEST LIMITATIONS</a:t>
            </a:r>
            <a:endParaRPr b="1" sz="900">
              <a:solidFill>
                <a:srgbClr val="36E5FF"/>
              </a:solidFill>
              <a:latin typeface="Roboto"/>
              <a:ea typeface="Roboto"/>
              <a:cs typeface="Roboto"/>
              <a:sym typeface="Roboto"/>
            </a:endParaRPr>
          </a:p>
        </p:txBody>
      </p:sp>
      <p:sp>
        <p:nvSpPr>
          <p:cNvPr id="261" name="Google Shape;261;p21"/>
          <p:cNvSpPr txBox="1"/>
          <p:nvPr/>
        </p:nvSpPr>
        <p:spPr>
          <a:xfrm>
            <a:off x="431800" y="508000"/>
            <a:ext cx="7746900" cy="482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2800">
                <a:solidFill>
                  <a:srgbClr val="F4F7FB"/>
                </a:solidFill>
                <a:latin typeface="Montserrat"/>
                <a:ea typeface="Montserrat"/>
                <a:cs typeface="Montserrat"/>
                <a:sym typeface="Montserrat"/>
              </a:rPr>
              <a:t>Scope of validity</a:t>
            </a:r>
            <a:endParaRPr b="1" sz="2800">
              <a:solidFill>
                <a:srgbClr val="F4F7FB"/>
              </a:solidFill>
              <a:latin typeface="Montserrat"/>
              <a:ea typeface="Montserrat"/>
              <a:cs typeface="Montserrat"/>
              <a:sym typeface="Montserrat"/>
            </a:endParaRPr>
          </a:p>
        </p:txBody>
      </p:sp>
      <p:sp>
        <p:nvSpPr>
          <p:cNvPr id="262" name="Google Shape;262;p21"/>
          <p:cNvSpPr txBox="1"/>
          <p:nvPr/>
        </p:nvSpPr>
        <p:spPr>
          <a:xfrm>
            <a:off x="8382000" y="304800"/>
            <a:ext cx="355500" cy="2541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th" sz="1000">
                <a:solidFill>
                  <a:srgbClr val="91A4B7"/>
                </a:solidFill>
                <a:latin typeface="Roboto"/>
                <a:ea typeface="Roboto"/>
                <a:cs typeface="Roboto"/>
                <a:sym typeface="Roboto"/>
              </a:rPr>
              <a:t>09</a:t>
            </a:r>
            <a:endParaRPr b="1" sz="1000">
              <a:solidFill>
                <a:srgbClr val="91A4B7"/>
              </a:solidFill>
              <a:latin typeface="Roboto"/>
              <a:ea typeface="Roboto"/>
              <a:cs typeface="Roboto"/>
              <a:sym typeface="Roboto"/>
            </a:endParaRPr>
          </a:p>
        </p:txBody>
      </p:sp>
      <p:cxnSp>
        <p:nvCxnSpPr>
          <p:cNvPr id="263" name="Google Shape;263;p21"/>
          <p:cNvCxnSpPr/>
          <p:nvPr/>
        </p:nvCxnSpPr>
        <p:spPr>
          <a:xfrm>
            <a:off x="431800" y="990600"/>
            <a:ext cx="8280300" cy="0"/>
          </a:xfrm>
          <a:prstGeom prst="straightConnector1">
            <a:avLst/>
          </a:prstGeom>
          <a:noFill/>
          <a:ln cap="flat" cmpd="sng" w="12700">
            <a:solidFill>
              <a:srgbClr val="1D344A"/>
            </a:solidFill>
            <a:prstDash val="solid"/>
            <a:round/>
            <a:headEnd len="med" w="med" type="none"/>
            <a:tailEnd len="med" w="med" type="none"/>
          </a:ln>
        </p:spPr>
      </p:cxnSp>
      <p:sp>
        <p:nvSpPr>
          <p:cNvPr id="264" name="Google Shape;264;p21"/>
          <p:cNvSpPr/>
          <p:nvPr/>
        </p:nvSpPr>
        <p:spPr>
          <a:xfrm>
            <a:off x="431800" y="1308100"/>
            <a:ext cx="4038600" cy="12573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21"/>
          <p:cNvSpPr txBox="1"/>
          <p:nvPr/>
        </p:nvSpPr>
        <p:spPr>
          <a:xfrm>
            <a:off x="635000" y="1485900"/>
            <a:ext cx="3555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FFCB57"/>
                </a:solidFill>
                <a:latin typeface="Roboto"/>
                <a:ea typeface="Roboto"/>
                <a:cs typeface="Roboto"/>
                <a:sym typeface="Roboto"/>
              </a:rPr>
              <a:t>SIMULATION FIDELITY</a:t>
            </a:r>
            <a:endParaRPr b="1" sz="900">
              <a:solidFill>
                <a:srgbClr val="FFCB57"/>
              </a:solidFill>
              <a:latin typeface="Roboto"/>
              <a:ea typeface="Roboto"/>
              <a:cs typeface="Roboto"/>
              <a:sym typeface="Roboto"/>
            </a:endParaRPr>
          </a:p>
        </p:txBody>
      </p:sp>
      <p:sp>
        <p:nvSpPr>
          <p:cNvPr id="266" name="Google Shape;266;p21"/>
          <p:cNvSpPr txBox="1"/>
          <p:nvPr/>
        </p:nvSpPr>
        <p:spPr>
          <a:xfrm>
            <a:off x="635000" y="1828800"/>
            <a:ext cx="3555900" cy="533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Kinematic carry model;</a:t>
            </a:r>
            <a:endParaRPr b="1" sz="1300">
              <a:solidFill>
                <a:srgbClr val="F4F7FB"/>
              </a:solidFill>
              <a:latin typeface="Roboto"/>
              <a:ea typeface="Roboto"/>
              <a:cs typeface="Roboto"/>
              <a:sym typeface="Roboto"/>
            </a:endParaRPr>
          </a:p>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no physics-based grasping.</a:t>
            </a:r>
            <a:endParaRPr b="1" sz="1300">
              <a:solidFill>
                <a:srgbClr val="F4F7FB"/>
              </a:solidFill>
              <a:latin typeface="Roboto"/>
              <a:ea typeface="Roboto"/>
              <a:cs typeface="Roboto"/>
              <a:sym typeface="Roboto"/>
            </a:endParaRPr>
          </a:p>
        </p:txBody>
      </p:sp>
      <p:sp>
        <p:nvSpPr>
          <p:cNvPr id="267" name="Google Shape;267;p21"/>
          <p:cNvSpPr/>
          <p:nvPr/>
        </p:nvSpPr>
        <p:spPr>
          <a:xfrm>
            <a:off x="4673600" y="1308100"/>
            <a:ext cx="4038600" cy="12573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1"/>
          <p:cNvSpPr txBox="1"/>
          <p:nvPr/>
        </p:nvSpPr>
        <p:spPr>
          <a:xfrm>
            <a:off x="4876800" y="1485900"/>
            <a:ext cx="3555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E5FF"/>
                </a:solidFill>
                <a:latin typeface="Roboto"/>
                <a:ea typeface="Roboto"/>
                <a:cs typeface="Roboto"/>
                <a:sym typeface="Roboto"/>
              </a:rPr>
              <a:t>DETERMINISTIC EVIDENCE</a:t>
            </a:r>
            <a:endParaRPr b="1" sz="900">
              <a:solidFill>
                <a:srgbClr val="36E5FF"/>
              </a:solidFill>
              <a:latin typeface="Roboto"/>
              <a:ea typeface="Roboto"/>
              <a:cs typeface="Roboto"/>
              <a:sym typeface="Roboto"/>
            </a:endParaRPr>
          </a:p>
        </p:txBody>
      </p:sp>
      <p:sp>
        <p:nvSpPr>
          <p:cNvPr id="269" name="Google Shape;269;p21"/>
          <p:cNvSpPr txBox="1"/>
          <p:nvPr/>
        </p:nvSpPr>
        <p:spPr>
          <a:xfrm>
            <a:off x="4876800" y="1828800"/>
            <a:ext cx="3555900" cy="533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Fixed seeds, noise = 0;</a:t>
            </a:r>
            <a:endParaRPr b="1" sz="1300">
              <a:solidFill>
                <a:srgbClr val="F4F7FB"/>
              </a:solidFill>
              <a:latin typeface="Roboto"/>
              <a:ea typeface="Roboto"/>
              <a:cs typeface="Roboto"/>
              <a:sym typeface="Roboto"/>
            </a:endParaRPr>
          </a:p>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no confidence interval.</a:t>
            </a:r>
            <a:endParaRPr b="1" sz="1300">
              <a:solidFill>
                <a:srgbClr val="F4F7FB"/>
              </a:solidFill>
              <a:latin typeface="Roboto"/>
              <a:ea typeface="Roboto"/>
              <a:cs typeface="Roboto"/>
              <a:sym typeface="Roboto"/>
            </a:endParaRPr>
          </a:p>
        </p:txBody>
      </p:sp>
      <p:sp>
        <p:nvSpPr>
          <p:cNvPr id="270" name="Google Shape;270;p21"/>
          <p:cNvSpPr/>
          <p:nvPr/>
        </p:nvSpPr>
        <p:spPr>
          <a:xfrm>
            <a:off x="431800" y="2832100"/>
            <a:ext cx="4038600" cy="12573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21"/>
          <p:cNvSpPr txBox="1"/>
          <p:nvPr/>
        </p:nvSpPr>
        <p:spPr>
          <a:xfrm>
            <a:off x="635000" y="3009900"/>
            <a:ext cx="3555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FF5D6C"/>
                </a:solidFill>
                <a:latin typeface="Roboto"/>
                <a:ea typeface="Roboto"/>
                <a:cs typeface="Roboto"/>
                <a:sym typeface="Roboto"/>
              </a:rPr>
              <a:t>TEST COVERAGE</a:t>
            </a:r>
            <a:endParaRPr b="1" sz="900">
              <a:solidFill>
                <a:srgbClr val="FF5D6C"/>
              </a:solidFill>
              <a:latin typeface="Roboto"/>
              <a:ea typeface="Roboto"/>
              <a:cs typeface="Roboto"/>
              <a:sym typeface="Roboto"/>
            </a:endParaRPr>
          </a:p>
        </p:txBody>
      </p:sp>
      <p:sp>
        <p:nvSpPr>
          <p:cNvPr id="272" name="Google Shape;272;p21"/>
          <p:cNvSpPr txBox="1"/>
          <p:nvPr/>
        </p:nvSpPr>
        <p:spPr>
          <a:xfrm>
            <a:off x="635000" y="3352800"/>
            <a:ext cx="3555900" cy="533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One disturbance type,</a:t>
            </a:r>
            <a:endParaRPr b="1" sz="1300">
              <a:solidFill>
                <a:srgbClr val="F4F7FB"/>
              </a:solidFill>
              <a:latin typeface="Roboto"/>
              <a:ea typeface="Roboto"/>
              <a:cs typeface="Roboto"/>
              <a:sym typeface="Roboto"/>
            </a:endParaRPr>
          </a:p>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one target position.</a:t>
            </a:r>
            <a:endParaRPr b="1" sz="1300">
              <a:solidFill>
                <a:srgbClr val="F4F7FB"/>
              </a:solidFill>
              <a:latin typeface="Roboto"/>
              <a:ea typeface="Roboto"/>
              <a:cs typeface="Roboto"/>
              <a:sym typeface="Roboto"/>
            </a:endParaRPr>
          </a:p>
        </p:txBody>
      </p:sp>
      <p:sp>
        <p:nvSpPr>
          <p:cNvPr id="273" name="Google Shape;273;p21"/>
          <p:cNvSpPr/>
          <p:nvPr/>
        </p:nvSpPr>
        <p:spPr>
          <a:xfrm>
            <a:off x="4673600" y="2832100"/>
            <a:ext cx="4038600" cy="1257300"/>
          </a:xfrm>
          <a:prstGeom prst="roundRect">
            <a:avLst>
              <a:gd fmla="val 16667" name="adj"/>
            </a:avLst>
          </a:prstGeom>
          <a:solidFill>
            <a:srgbClr val="0E1C2B"/>
          </a:solidFill>
          <a:ln cap="flat" cmpd="sng" w="12700">
            <a:solidFill>
              <a:srgbClr val="1D34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21"/>
          <p:cNvSpPr txBox="1"/>
          <p:nvPr/>
        </p:nvSpPr>
        <p:spPr>
          <a:xfrm>
            <a:off x="4876800" y="3009900"/>
            <a:ext cx="3555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4D8DFF"/>
                </a:solidFill>
                <a:latin typeface="Roboto"/>
                <a:ea typeface="Roboto"/>
                <a:cs typeface="Roboto"/>
                <a:sym typeface="Roboto"/>
              </a:rPr>
              <a:t>DEPLOYMENT BOUNDARY</a:t>
            </a:r>
            <a:endParaRPr b="1" sz="900">
              <a:solidFill>
                <a:srgbClr val="4D8DFF"/>
              </a:solidFill>
              <a:latin typeface="Roboto"/>
              <a:ea typeface="Roboto"/>
              <a:cs typeface="Roboto"/>
              <a:sym typeface="Roboto"/>
            </a:endParaRPr>
          </a:p>
        </p:txBody>
      </p:sp>
      <p:sp>
        <p:nvSpPr>
          <p:cNvPr id="275" name="Google Shape;275;p21"/>
          <p:cNvSpPr txBox="1"/>
          <p:nvPr/>
        </p:nvSpPr>
        <p:spPr>
          <a:xfrm>
            <a:off x="4876800" y="3352800"/>
            <a:ext cx="3555900" cy="5334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MuJoCo + CPU only;</a:t>
            </a:r>
            <a:endParaRPr b="1" sz="1300">
              <a:solidFill>
                <a:srgbClr val="F4F7FB"/>
              </a:solidFill>
              <a:latin typeface="Roboto"/>
              <a:ea typeface="Roboto"/>
              <a:cs typeface="Roboto"/>
              <a:sym typeface="Roboto"/>
            </a:endParaRPr>
          </a:p>
          <a:p>
            <a:pPr indent="0" lvl="0" marL="0" rtl="0" algn="l">
              <a:lnSpc>
                <a:spcPct val="110000"/>
              </a:lnSpc>
              <a:spcBef>
                <a:spcPts val="0"/>
              </a:spcBef>
              <a:spcAft>
                <a:spcPts val="0"/>
              </a:spcAft>
              <a:buNone/>
            </a:pPr>
            <a:r>
              <a:rPr b="1" lang="th" sz="1300">
                <a:solidFill>
                  <a:srgbClr val="F4F7FB"/>
                </a:solidFill>
                <a:latin typeface="Roboto"/>
                <a:ea typeface="Roboto"/>
                <a:cs typeface="Roboto"/>
                <a:sym typeface="Roboto"/>
              </a:rPr>
              <a:t>no real hardware or certification.</a:t>
            </a:r>
            <a:endParaRPr b="1" sz="1300">
              <a:solidFill>
                <a:srgbClr val="F4F7FB"/>
              </a:solidFill>
              <a:latin typeface="Roboto"/>
              <a:ea typeface="Roboto"/>
              <a:cs typeface="Roboto"/>
              <a:sym typeface="Roboto"/>
            </a:endParaRPr>
          </a:p>
        </p:txBody>
      </p:sp>
      <p:sp>
        <p:nvSpPr>
          <p:cNvPr id="276" name="Google Shape;276;p21"/>
          <p:cNvSpPr/>
          <p:nvPr/>
        </p:nvSpPr>
        <p:spPr>
          <a:xfrm>
            <a:off x="1600200" y="4457700"/>
            <a:ext cx="5943600" cy="355500"/>
          </a:xfrm>
          <a:prstGeom prst="roundRect">
            <a:avLst>
              <a:gd fmla="val 16667" name="adj"/>
            </a:avLst>
          </a:prstGeom>
          <a:solidFill>
            <a:srgbClr val="FFCB57"/>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200">
                <a:solidFill>
                  <a:srgbClr val="02070D"/>
                </a:solidFill>
                <a:latin typeface="Roboto"/>
                <a:ea typeface="Roboto"/>
                <a:cs typeface="Roboto"/>
                <a:sym typeface="Roboto"/>
              </a:rPr>
              <a:t>CONTROLLED SIMULATION EVIDENCE  ≠  FORMAL PROOF</a:t>
            </a:r>
            <a:endParaRPr b="1" sz="1200">
              <a:solidFill>
                <a:srgbClr val="02070D"/>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11D"/>
        </a:solidFill>
      </p:bgPr>
    </p:bg>
    <p:spTree>
      <p:nvGrpSpPr>
        <p:cNvPr id="280" name="Shape 280"/>
        <p:cNvGrpSpPr/>
        <p:nvPr/>
      </p:nvGrpSpPr>
      <p:grpSpPr>
        <a:xfrm>
          <a:off x="0" y="0"/>
          <a:ext cx="0" cy="0"/>
          <a:chOff x="0" y="0"/>
          <a:chExt cx="0" cy="0"/>
        </a:xfrm>
      </p:grpSpPr>
      <p:sp>
        <p:nvSpPr>
          <p:cNvPr id="281" name="Google Shape;281;p22"/>
          <p:cNvSpPr/>
          <p:nvPr/>
        </p:nvSpPr>
        <p:spPr>
          <a:xfrm>
            <a:off x="0" y="0"/>
            <a:ext cx="152400" cy="5143500"/>
          </a:xfrm>
          <a:prstGeom prst="rect">
            <a:avLst/>
          </a:prstGeom>
          <a:solidFill>
            <a:srgbClr val="36F09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2"/>
          <p:cNvSpPr txBox="1"/>
          <p:nvPr/>
        </p:nvSpPr>
        <p:spPr>
          <a:xfrm>
            <a:off x="533400" y="381000"/>
            <a:ext cx="22860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900">
                <a:solidFill>
                  <a:srgbClr val="36F09B"/>
                </a:solidFill>
                <a:latin typeface="Roboto"/>
                <a:ea typeface="Roboto"/>
                <a:cs typeface="Roboto"/>
                <a:sym typeface="Roboto"/>
              </a:rPr>
              <a:t>CONCLUSION</a:t>
            </a:r>
            <a:endParaRPr b="1" sz="900">
              <a:solidFill>
                <a:srgbClr val="36F09B"/>
              </a:solidFill>
              <a:latin typeface="Roboto"/>
              <a:ea typeface="Roboto"/>
              <a:cs typeface="Roboto"/>
              <a:sym typeface="Roboto"/>
            </a:endParaRPr>
          </a:p>
        </p:txBody>
      </p:sp>
      <p:sp>
        <p:nvSpPr>
          <p:cNvPr id="283" name="Google Shape;283;p22"/>
          <p:cNvSpPr txBox="1"/>
          <p:nvPr/>
        </p:nvSpPr>
        <p:spPr>
          <a:xfrm>
            <a:off x="533400" y="952500"/>
            <a:ext cx="4698900" cy="13335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b="1" lang="th" sz="4500">
                <a:solidFill>
                  <a:srgbClr val="F4F7FB"/>
                </a:solidFill>
                <a:latin typeface="Montserrat"/>
                <a:ea typeface="Montserrat"/>
                <a:cs typeface="Montserrat"/>
                <a:sym typeface="Montserrat"/>
              </a:rPr>
              <a:t>RESILIENCE</a:t>
            </a:r>
            <a:endParaRPr b="1" sz="4500">
              <a:solidFill>
                <a:srgbClr val="F4F7FB"/>
              </a:solidFill>
              <a:latin typeface="Montserrat"/>
              <a:ea typeface="Montserrat"/>
              <a:cs typeface="Montserrat"/>
              <a:sym typeface="Montserrat"/>
            </a:endParaRPr>
          </a:p>
          <a:p>
            <a:pPr indent="0" lvl="0" marL="0" rtl="0" algn="l">
              <a:lnSpc>
                <a:spcPct val="90000"/>
              </a:lnSpc>
              <a:spcBef>
                <a:spcPts val="0"/>
              </a:spcBef>
              <a:spcAft>
                <a:spcPts val="0"/>
              </a:spcAft>
              <a:buNone/>
            </a:pPr>
            <a:r>
              <a:rPr b="1" lang="th" sz="4500">
                <a:solidFill>
                  <a:srgbClr val="F4F7FB"/>
                </a:solidFill>
                <a:latin typeface="Montserrat"/>
                <a:ea typeface="Montserrat"/>
                <a:cs typeface="Montserrat"/>
                <a:sym typeface="Montserrat"/>
              </a:rPr>
              <a:t>&gt; SPEED</a:t>
            </a:r>
            <a:endParaRPr b="1" sz="4500">
              <a:solidFill>
                <a:srgbClr val="F4F7FB"/>
              </a:solidFill>
              <a:latin typeface="Montserrat"/>
              <a:ea typeface="Montserrat"/>
              <a:cs typeface="Montserrat"/>
              <a:sym typeface="Montserrat"/>
            </a:endParaRPr>
          </a:p>
        </p:txBody>
      </p:sp>
      <p:sp>
        <p:nvSpPr>
          <p:cNvPr id="284" name="Google Shape;284;p22"/>
          <p:cNvSpPr txBox="1"/>
          <p:nvPr/>
        </p:nvSpPr>
        <p:spPr>
          <a:xfrm>
            <a:off x="533400" y="2616200"/>
            <a:ext cx="5841900" cy="711300"/>
          </a:xfrm>
          <a:prstGeom prst="rect">
            <a:avLst/>
          </a:prstGeom>
          <a:noFill/>
          <a:ln>
            <a:noFill/>
          </a:ln>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b="1" lang="th" sz="1700">
                <a:solidFill>
                  <a:srgbClr val="F4F7FB"/>
                </a:solidFill>
                <a:latin typeface="Roboto"/>
                <a:ea typeface="Roboto"/>
                <a:cs typeface="Roboto"/>
                <a:sym typeface="Roboto"/>
              </a:rPr>
              <a:t>Under the tested scenario, governed execution recovered</a:t>
            </a:r>
            <a:endParaRPr b="1" sz="1700">
              <a:solidFill>
                <a:srgbClr val="F4F7FB"/>
              </a:solidFill>
              <a:latin typeface="Roboto"/>
              <a:ea typeface="Roboto"/>
              <a:cs typeface="Roboto"/>
              <a:sym typeface="Roboto"/>
            </a:endParaRPr>
          </a:p>
          <a:p>
            <a:pPr indent="0" lvl="0" marL="0" rtl="0" algn="l">
              <a:lnSpc>
                <a:spcPct val="110000"/>
              </a:lnSpc>
              <a:spcBef>
                <a:spcPts val="0"/>
              </a:spcBef>
              <a:spcAft>
                <a:spcPts val="0"/>
              </a:spcAft>
              <a:buNone/>
            </a:pPr>
            <a:r>
              <a:rPr b="1" lang="th" sz="1700">
                <a:solidFill>
                  <a:srgbClr val="F4F7FB"/>
                </a:solidFill>
                <a:latin typeface="Roboto"/>
                <a:ea typeface="Roboto"/>
                <a:cs typeface="Roboto"/>
                <a:sym typeface="Roboto"/>
              </a:rPr>
              <a:t>10 / 10 while open-loop execution recovered 0 / 10.</a:t>
            </a:r>
            <a:endParaRPr b="1" sz="1700">
              <a:solidFill>
                <a:srgbClr val="F4F7FB"/>
              </a:solidFill>
              <a:latin typeface="Roboto"/>
              <a:ea typeface="Roboto"/>
              <a:cs typeface="Roboto"/>
              <a:sym typeface="Roboto"/>
            </a:endParaRPr>
          </a:p>
        </p:txBody>
      </p:sp>
      <p:sp>
        <p:nvSpPr>
          <p:cNvPr id="285" name="Google Shape;285;p22"/>
          <p:cNvSpPr/>
          <p:nvPr/>
        </p:nvSpPr>
        <p:spPr>
          <a:xfrm>
            <a:off x="533400" y="3657600"/>
            <a:ext cx="4065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01</a:t>
            </a:r>
            <a:endParaRPr b="1" sz="800">
              <a:solidFill>
                <a:srgbClr val="36E5FF"/>
              </a:solidFill>
              <a:latin typeface="Roboto"/>
              <a:ea typeface="Roboto"/>
              <a:cs typeface="Roboto"/>
              <a:sym typeface="Roboto"/>
            </a:endParaRPr>
          </a:p>
        </p:txBody>
      </p:sp>
      <p:sp>
        <p:nvSpPr>
          <p:cNvPr id="286" name="Google Shape;286;p22"/>
          <p:cNvSpPr txBox="1"/>
          <p:nvPr/>
        </p:nvSpPr>
        <p:spPr>
          <a:xfrm>
            <a:off x="1003300" y="3670300"/>
            <a:ext cx="1397100" cy="279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OBSERVE CHANGE</a:t>
            </a:r>
            <a:endParaRPr b="1" sz="800">
              <a:solidFill>
                <a:srgbClr val="91A4B7"/>
              </a:solidFill>
              <a:latin typeface="Roboto"/>
              <a:ea typeface="Roboto"/>
              <a:cs typeface="Roboto"/>
              <a:sym typeface="Roboto"/>
            </a:endParaRPr>
          </a:p>
        </p:txBody>
      </p:sp>
      <p:sp>
        <p:nvSpPr>
          <p:cNvPr id="287" name="Google Shape;287;p22"/>
          <p:cNvSpPr/>
          <p:nvPr/>
        </p:nvSpPr>
        <p:spPr>
          <a:xfrm>
            <a:off x="2463800" y="3657600"/>
            <a:ext cx="4065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02</a:t>
            </a:r>
            <a:endParaRPr b="1" sz="800">
              <a:solidFill>
                <a:srgbClr val="36E5FF"/>
              </a:solidFill>
              <a:latin typeface="Roboto"/>
              <a:ea typeface="Roboto"/>
              <a:cs typeface="Roboto"/>
              <a:sym typeface="Roboto"/>
            </a:endParaRPr>
          </a:p>
        </p:txBody>
      </p:sp>
      <p:sp>
        <p:nvSpPr>
          <p:cNvPr id="288" name="Google Shape;288;p22"/>
          <p:cNvSpPr txBox="1"/>
          <p:nvPr/>
        </p:nvSpPr>
        <p:spPr>
          <a:xfrm>
            <a:off x="2933700" y="3670300"/>
            <a:ext cx="1397100" cy="279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REPLACE STALE PLAN</a:t>
            </a:r>
            <a:endParaRPr b="1" sz="800">
              <a:solidFill>
                <a:srgbClr val="91A4B7"/>
              </a:solidFill>
              <a:latin typeface="Roboto"/>
              <a:ea typeface="Roboto"/>
              <a:cs typeface="Roboto"/>
              <a:sym typeface="Roboto"/>
            </a:endParaRPr>
          </a:p>
        </p:txBody>
      </p:sp>
      <p:sp>
        <p:nvSpPr>
          <p:cNvPr id="289" name="Google Shape;289;p22"/>
          <p:cNvSpPr/>
          <p:nvPr/>
        </p:nvSpPr>
        <p:spPr>
          <a:xfrm>
            <a:off x="4394200" y="3657600"/>
            <a:ext cx="406500" cy="317400"/>
          </a:xfrm>
          <a:prstGeom prst="roundRect">
            <a:avLst>
              <a:gd fmla="val 16667" name="adj"/>
            </a:avLst>
          </a:prstGeom>
          <a:solidFill>
            <a:srgbClr val="13263A"/>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800">
                <a:solidFill>
                  <a:srgbClr val="36E5FF"/>
                </a:solidFill>
                <a:latin typeface="Roboto"/>
                <a:ea typeface="Roboto"/>
                <a:cs typeface="Roboto"/>
                <a:sym typeface="Roboto"/>
              </a:rPr>
              <a:t>03</a:t>
            </a:r>
            <a:endParaRPr b="1" sz="800">
              <a:solidFill>
                <a:srgbClr val="36E5FF"/>
              </a:solidFill>
              <a:latin typeface="Roboto"/>
              <a:ea typeface="Roboto"/>
              <a:cs typeface="Roboto"/>
              <a:sym typeface="Roboto"/>
            </a:endParaRPr>
          </a:p>
        </p:txBody>
      </p:sp>
      <p:sp>
        <p:nvSpPr>
          <p:cNvPr id="290" name="Google Shape;290;p22"/>
          <p:cNvSpPr txBox="1"/>
          <p:nvPr/>
        </p:nvSpPr>
        <p:spPr>
          <a:xfrm>
            <a:off x="4864100" y="3670300"/>
            <a:ext cx="1397100" cy="279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800">
                <a:solidFill>
                  <a:srgbClr val="91A4B7"/>
                </a:solidFill>
                <a:latin typeface="Roboto"/>
                <a:ea typeface="Roboto"/>
                <a:cs typeface="Roboto"/>
                <a:sym typeface="Roboto"/>
              </a:rPr>
              <a:t>PRESERVE EVIDENCE</a:t>
            </a:r>
            <a:endParaRPr b="1" sz="800">
              <a:solidFill>
                <a:srgbClr val="91A4B7"/>
              </a:solidFill>
              <a:latin typeface="Roboto"/>
              <a:ea typeface="Roboto"/>
              <a:cs typeface="Roboto"/>
              <a:sym typeface="Roboto"/>
            </a:endParaRPr>
          </a:p>
        </p:txBody>
      </p:sp>
      <p:sp>
        <p:nvSpPr>
          <p:cNvPr id="291" name="Google Shape;291;p22"/>
          <p:cNvSpPr txBox="1"/>
          <p:nvPr/>
        </p:nvSpPr>
        <p:spPr>
          <a:xfrm>
            <a:off x="533400" y="4368800"/>
            <a:ext cx="4000500" cy="254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100">
                <a:solidFill>
                  <a:srgbClr val="36F09B"/>
                </a:solidFill>
                <a:latin typeface="Roboto"/>
                <a:ea typeface="Roboto"/>
                <a:cs typeface="Roboto"/>
                <a:sym typeface="Roboto"/>
              </a:rPr>
              <a:t>CLONE  •  RUN  •  INSPECT</a:t>
            </a:r>
            <a:endParaRPr b="1" sz="1100">
              <a:solidFill>
                <a:srgbClr val="36F09B"/>
              </a:solidFill>
              <a:latin typeface="Roboto"/>
              <a:ea typeface="Roboto"/>
              <a:cs typeface="Roboto"/>
              <a:sym typeface="Roboto"/>
            </a:endParaRPr>
          </a:p>
        </p:txBody>
      </p:sp>
      <p:sp>
        <p:nvSpPr>
          <p:cNvPr id="292" name="Google Shape;292;p22"/>
          <p:cNvSpPr txBox="1"/>
          <p:nvPr/>
        </p:nvSpPr>
        <p:spPr>
          <a:xfrm>
            <a:off x="533400" y="4673600"/>
            <a:ext cx="4317900" cy="228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th" sz="1000" u="sng">
                <a:solidFill>
                  <a:srgbClr val="36E5FF"/>
                </a:solidFill>
                <a:latin typeface="Roboto"/>
                <a:ea typeface="Roboto"/>
                <a:cs typeface="Roboto"/>
                <a:sym typeface="Roboto"/>
                <a:hlinkClick r:id="rId3">
                  <a:extLst>
                    <a:ext uri="{A12FA001-AC4F-418D-AE19-62706E023703}">
                      <ahyp:hlinkClr val="tx"/>
                    </a:ext>
                  </a:extLst>
                </a:hlinkClick>
              </a:rPr>
              <a:t>github.com/rootz-synapsa/roboguardian</a:t>
            </a:r>
            <a:endParaRPr b="1" sz="1000" u="sng">
              <a:solidFill>
                <a:srgbClr val="36E5FF"/>
              </a:solidFill>
              <a:latin typeface="Roboto"/>
              <a:ea typeface="Roboto"/>
              <a:cs typeface="Roboto"/>
              <a:sym typeface="Roboto"/>
            </a:endParaRPr>
          </a:p>
        </p:txBody>
      </p:sp>
      <p:sp>
        <p:nvSpPr>
          <p:cNvPr id="293" name="Google Shape;293;p22"/>
          <p:cNvSpPr/>
          <p:nvPr/>
        </p:nvSpPr>
        <p:spPr>
          <a:xfrm>
            <a:off x="6718300" y="952500"/>
            <a:ext cx="1993800" cy="2476500"/>
          </a:xfrm>
          <a:prstGeom prst="roundRect">
            <a:avLst>
              <a:gd fmla="val 16667" name="adj"/>
            </a:avLst>
          </a:prstGeom>
          <a:solidFill>
            <a:srgbClr val="F4F7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4" name="Google Shape;294;p22"/>
          <p:cNvPicPr preferRelativeResize="0"/>
          <p:nvPr/>
        </p:nvPicPr>
        <p:blipFill>
          <a:blip r:embed="rId4">
            <a:alphaModFix/>
          </a:blip>
          <a:stretch>
            <a:fillRect/>
          </a:stretch>
        </p:blipFill>
        <p:spPr>
          <a:xfrm>
            <a:off x="6870700" y="1104900"/>
            <a:ext cx="1689100" cy="1689100"/>
          </a:xfrm>
          <a:prstGeom prst="rect">
            <a:avLst/>
          </a:prstGeom>
          <a:noFill/>
          <a:ln>
            <a:noFill/>
          </a:ln>
        </p:spPr>
      </p:pic>
      <p:sp>
        <p:nvSpPr>
          <p:cNvPr id="295" name="Google Shape;295;p22"/>
          <p:cNvSpPr txBox="1"/>
          <p:nvPr/>
        </p:nvSpPr>
        <p:spPr>
          <a:xfrm>
            <a:off x="6858000" y="2870200"/>
            <a:ext cx="1714500" cy="254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1000">
                <a:solidFill>
                  <a:srgbClr val="02070D"/>
                </a:solidFill>
                <a:latin typeface="Roboto"/>
                <a:ea typeface="Roboto"/>
                <a:cs typeface="Roboto"/>
                <a:sym typeface="Roboto"/>
              </a:rPr>
              <a:t>SCAN TO CLONE</a:t>
            </a:r>
            <a:endParaRPr b="1" sz="1000">
              <a:solidFill>
                <a:srgbClr val="02070D"/>
              </a:solidFill>
              <a:latin typeface="Roboto"/>
              <a:ea typeface="Roboto"/>
              <a:cs typeface="Roboto"/>
              <a:sym typeface="Roboto"/>
            </a:endParaRPr>
          </a:p>
        </p:txBody>
      </p:sp>
      <p:sp>
        <p:nvSpPr>
          <p:cNvPr id="296" name="Google Shape;296;p22"/>
          <p:cNvSpPr/>
          <p:nvPr/>
        </p:nvSpPr>
        <p:spPr>
          <a:xfrm>
            <a:off x="6959600" y="3632200"/>
            <a:ext cx="1511400" cy="317400"/>
          </a:xfrm>
          <a:prstGeom prst="roundRect">
            <a:avLst>
              <a:gd fmla="val 16667" name="adj"/>
            </a:avLst>
          </a:prstGeom>
          <a:solidFill>
            <a:srgbClr val="36F09B"/>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th" sz="900">
                <a:solidFill>
                  <a:srgbClr val="02070D"/>
                </a:solidFill>
                <a:latin typeface="Roboto"/>
                <a:ea typeface="Roboto"/>
                <a:cs typeface="Roboto"/>
                <a:sym typeface="Roboto"/>
              </a:rPr>
              <a:t>OPEN SOURCE</a:t>
            </a:r>
            <a:endParaRPr b="1" sz="900">
              <a:solidFill>
                <a:srgbClr val="02070D"/>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